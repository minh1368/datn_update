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F850E-679A-5A98-D412-FCFF1BBCF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EF6790-A962-7368-CC2F-A88FB8DC1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4FAE64-9AB3-A0C9-AD69-574554C9B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8553B-6780-C7B7-D66C-164C5D277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3397F-6672-079F-5195-38D562183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436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6F85-27B8-9861-B442-37486613F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D36C5-C626-5FD4-F8A8-14ADAFB47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7E230-B2B3-3746-C956-3F515065A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7B5A9-52BB-4CCA-C977-9318FA7F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328DE-6480-F516-BB1B-87E72D7C6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9C9D9-1894-8F73-1EFC-7B306054E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FD04E-30BF-9AFA-6D83-31379792C1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065B7F-828D-22A5-7444-4149FA6BC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09D61-70B7-32EE-EEB9-6F9D35D06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10CCA-CC39-8011-2799-DE8B16419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15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07143-863B-0F10-BB78-8A6AB87FB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D2BA7-E44F-71F6-6D9D-03512D985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4452B-2190-650A-0434-D5100FBF8D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4A81C-443F-2FE0-9946-706FA7085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AE3ED-2256-F83F-CA47-4750AEC96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896576-404D-E1FD-092E-9A2C55EC8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1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E829D-3904-4189-80F5-D707B3650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422A11-77F7-02DC-9419-5BB716A28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BE3826-3DE6-F829-2CEE-AD033D1221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A6ADC7-0BDD-73C5-E229-4C963D5F9C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E6875-01E9-21C2-DE66-582B462795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753A6-8456-1D4A-4796-960D3BCF6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28663-3459-7C3B-72E1-C88C4F254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396D5D-227B-0781-E82A-1EE21F55D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86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F3E34-5EB9-F56F-E47A-DF3D89324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13735-E98E-DE99-13F8-7272F2B01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1E7684-3DA7-A70C-C83B-808352601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74F1BD-A3EA-5EEB-B961-673E72E9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849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60466-8AC7-8ECE-2EA1-14A4BBD13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0B1EC5-5E84-09E9-CC6A-F4F4DCB24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8275B-AB34-2200-8223-6A03D1B5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23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6EAD8-2EF7-7788-1C65-7127E8597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83F00-46B3-215E-D587-8F78B8036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63035B-688C-94FD-2DC1-4CD5FFDF4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D5F5A2-BD65-2AF6-684D-3C310124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503F1-2B92-D973-09C6-FD6475184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F92F18-13C3-080D-BDEB-76A31E71C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843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A1BE6-7A2B-EABC-4367-7A886DA03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1FD8AE-2B47-130E-ACD3-4EFA2607F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800FEE-55FB-B47B-EA72-C83987B99D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9483D-7831-9743-06EB-3C746DFA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A31532-771C-4F80-36BF-C99DCFB70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7BAC1A-5AE0-48B5-5099-4AF4DED00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3714-CBDA-8D8B-DF30-A26224CE3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C738C-DF9A-4EB9-FB54-6A3027C898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D6FE4-9722-F38E-0E02-4A759CF8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49152-1130-5280-4633-EFECD96D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15E56-B1B0-A276-FDBF-25032BB0D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30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9BA509-C851-42B3-4656-7A52389EA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C72525-C852-7237-0FDE-8D6F1AC8A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80811-8A94-3B5E-B129-CC5811F3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6980A-1157-FC2D-19B9-B2D7E1811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67E55-4D11-B162-93B2-B73D63255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12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67428-6D7A-0EAF-E2E6-EE61E0FBD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ABEC2-DE57-6A7D-A51F-DF86F8650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E918C-949F-0D16-775F-16A06C0B96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7E8D0-FA5D-4D84-B225-8B4985A0C6A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40E91-03CE-0311-82AD-0CA8067D61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7DFD-543E-4AA6-9616-C9B4E65B06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3A8EE-5464-4B47-B1A3-8B5911933F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725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EB2B83-F71A-4291-2C7C-9FA67B9D3DC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620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CFC3F28-D563-EDFB-6575-412FB7D7C5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014">
              <a:alpha val="92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87E4260-E55E-5EA3-F5BC-89876269B036}"/>
              </a:ext>
            </a:extLst>
          </p:cNvPr>
          <p:cNvSpPr/>
          <p:nvPr/>
        </p:nvSpPr>
        <p:spPr>
          <a:xfrm>
            <a:off x="685800" y="533400"/>
            <a:ext cx="22098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6522D5-D4F5-1D0E-1402-B2A19C14CAB3}"/>
              </a:ext>
            </a:extLst>
          </p:cNvPr>
          <p:cNvSpPr txBox="1"/>
          <p:nvPr/>
        </p:nvSpPr>
        <p:spPr>
          <a:xfrm>
            <a:off x="774700" y="585772"/>
            <a:ext cx="203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 dirty="0">
                <a:solidFill>
                  <a:srgbClr val="141710"/>
                </a:solidFill>
                <a:latin typeface="Aptos" panose="020B0004020202020204" pitchFamily="34" charset="0"/>
              </a:rPr>
              <a:t>ĐỒ ÁN TỐT NGHIỆP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257E35-B5E1-4131-C083-7B41B945AB80}"/>
              </a:ext>
            </a:extLst>
          </p:cNvPr>
          <p:cNvSpPr txBox="1"/>
          <p:nvPr/>
        </p:nvSpPr>
        <p:spPr>
          <a:xfrm>
            <a:off x="685800" y="1333500"/>
            <a:ext cx="7747000" cy="123110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Aptos" panose="020B0004020202020204" pitchFamily="34" charset="0"/>
              </a:rPr>
              <a:t>HỆ THỐNG THÔNG TIN QUẢN LÝ
CHO THUÊ XE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8ACF42-F7C1-561D-F84C-FD74ECDBA03D}"/>
              </a:ext>
            </a:extLst>
          </p:cNvPr>
          <p:cNvSpPr txBox="1"/>
          <p:nvPr/>
        </p:nvSpPr>
        <p:spPr>
          <a:xfrm>
            <a:off x="736600" y="2946400"/>
            <a:ext cx="7874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>
                <a:solidFill>
                  <a:srgbClr val="C1C9B8"/>
                </a:solidFill>
                <a:latin typeface="Aptos" panose="020B0004020202020204" pitchFamily="34" charset="0"/>
              </a:rPr>
              <a:t>Số hóa hành trình từ tìm xe đến hoàn tất hợp đồng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C052F3-BF2A-1548-D4C1-E51AE755BF20}"/>
              </a:ext>
            </a:extLst>
          </p:cNvPr>
          <p:cNvSpPr/>
          <p:nvPr/>
        </p:nvSpPr>
        <p:spPr>
          <a:xfrm>
            <a:off x="685800" y="3860800"/>
            <a:ext cx="7747000" cy="16764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B96A7-248A-A9A4-1EEB-3C12735E6845}"/>
              </a:ext>
            </a:extLst>
          </p:cNvPr>
          <p:cNvSpPr txBox="1"/>
          <p:nvPr/>
        </p:nvSpPr>
        <p:spPr>
          <a:xfrm>
            <a:off x="990600" y="4165600"/>
            <a:ext cx="1168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E698"/>
                </a:solidFill>
                <a:latin typeface="Aptos" panose="020B0004020202020204" pitchFamily="34" charset="0"/>
              </a:rPr>
              <a:t>GVHD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442490-2F9D-497C-68D3-09AFC5243828}"/>
              </a:ext>
            </a:extLst>
          </p:cNvPr>
          <p:cNvSpPr txBox="1"/>
          <p:nvPr/>
        </p:nvSpPr>
        <p:spPr>
          <a:xfrm>
            <a:off x="2311400" y="4140200"/>
            <a:ext cx="546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[Điền tên giảng viên]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7D48C2-F9E3-0CD2-B232-A98CFA4D1BAD}"/>
              </a:ext>
            </a:extLst>
          </p:cNvPr>
          <p:cNvSpPr txBox="1"/>
          <p:nvPr/>
        </p:nvSpPr>
        <p:spPr>
          <a:xfrm>
            <a:off x="990600" y="4699000"/>
            <a:ext cx="1168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E698"/>
                </a:solidFill>
                <a:latin typeface="Aptos" panose="020B0004020202020204" pitchFamily="34" charset="0"/>
              </a:rPr>
              <a:t>SVTH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F48093-62B4-F058-58E0-E2C511AB30BA}"/>
              </a:ext>
            </a:extLst>
          </p:cNvPr>
          <p:cNvSpPr txBox="1"/>
          <p:nvPr/>
        </p:nvSpPr>
        <p:spPr>
          <a:xfrm>
            <a:off x="2311400" y="4673600"/>
            <a:ext cx="546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 dirty="0">
                <a:solidFill>
                  <a:srgbClr val="FFFFFF"/>
                </a:solidFill>
                <a:latin typeface="Aptos" panose="020B0004020202020204" pitchFamily="34" charset="0"/>
              </a:rPr>
              <a:t>Phạm Công Minh  ·  [</a:t>
            </a:r>
            <a:r>
              <a:rPr lang="en-US" sz="1900" b="1" dirty="0" err="1">
                <a:solidFill>
                  <a:srgbClr val="FFFFFF"/>
                </a:solidFill>
                <a:latin typeface="Aptos" panose="020B0004020202020204" pitchFamily="34" charset="0"/>
              </a:rPr>
              <a:t>Xác</a:t>
            </a:r>
            <a:r>
              <a:rPr lang="en-US" sz="1900" b="1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Aptos" panose="020B0004020202020204" pitchFamily="34" charset="0"/>
              </a:rPr>
              <a:t>nhận</a:t>
            </a:r>
            <a:r>
              <a:rPr lang="en-US" sz="1900" b="1" dirty="0">
                <a:solidFill>
                  <a:srgbClr val="FFFFFF"/>
                </a:solidFill>
                <a:latin typeface="Aptos" panose="020B0004020202020204" pitchFamily="34" charset="0"/>
              </a:rPr>
              <a:t>]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A877CC-88F4-CCE5-F0DA-F2B401A99BBA}"/>
              </a:ext>
            </a:extLst>
          </p:cNvPr>
          <p:cNvSpPr txBox="1"/>
          <p:nvPr/>
        </p:nvSpPr>
        <p:spPr>
          <a:xfrm>
            <a:off x="990600" y="5232400"/>
            <a:ext cx="1168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E698"/>
                </a:solidFill>
                <a:latin typeface="Aptos" panose="020B0004020202020204" pitchFamily="34" charset="0"/>
              </a:rPr>
              <a:t>LỚP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3E9925-69DE-629C-4DD4-4154EF0AFF45}"/>
              </a:ext>
            </a:extLst>
          </p:cNvPr>
          <p:cNvSpPr txBox="1"/>
          <p:nvPr/>
        </p:nvSpPr>
        <p:spPr>
          <a:xfrm>
            <a:off x="2311400" y="5207000"/>
            <a:ext cx="5461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[Điền tên lớp]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81F3E8-A9A7-C31A-7A44-2BFE8ACCA658}"/>
              </a:ext>
            </a:extLst>
          </p:cNvPr>
          <p:cNvSpPr txBox="1"/>
          <p:nvPr/>
        </p:nvSpPr>
        <p:spPr>
          <a:xfrm>
            <a:off x="10591800" y="6032500"/>
            <a:ext cx="10414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2000" b="1">
                <a:solidFill>
                  <a:srgbClr val="00E698"/>
                </a:solidFill>
                <a:latin typeface="Aptos" panose="020B0004020202020204" pitchFamily="34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77699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32C58F7-CBB1-AE39-2DA9-14188CA27B6D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91E5BC-7C5C-409E-5399-C30C27E64A57}"/>
              </a:ext>
            </a:extLst>
          </p:cNvPr>
          <p:cNvSpPr txBox="1"/>
          <p:nvPr/>
        </p:nvSpPr>
        <p:spPr>
          <a:xfrm>
            <a:off x="673100" y="3937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BỐI CẢNH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E214CE-0D1C-69E1-6B1C-615ABD029042}"/>
              </a:ext>
            </a:extLst>
          </p:cNvPr>
          <p:cNvSpPr txBox="1"/>
          <p:nvPr/>
        </p:nvSpPr>
        <p:spPr>
          <a:xfrm>
            <a:off x="584200" y="7874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Vì sao chọn đề tài?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144F9-D709-8D6E-0664-698351722BD0}"/>
              </a:ext>
            </a:extLst>
          </p:cNvPr>
          <p:cNvSpPr txBox="1"/>
          <p:nvPr/>
        </p:nvSpPr>
        <p:spPr>
          <a:xfrm>
            <a:off x="11341100" y="406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200" b="1">
                <a:solidFill>
                  <a:srgbClr val="C1C9B8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51913A-39FD-FA0F-EC74-E3B0DF6D6DE5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CA361B-082A-B187-5FB1-1B9CFDE98A04}"/>
              </a:ext>
            </a:extLst>
          </p:cNvPr>
          <p:cNvSpPr/>
          <p:nvPr/>
        </p:nvSpPr>
        <p:spPr>
          <a:xfrm>
            <a:off x="609600" y="1841500"/>
            <a:ext cx="5232400" cy="40894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3121C-4120-18E8-3070-B9ED164943A1}"/>
              </a:ext>
            </a:extLst>
          </p:cNvPr>
          <p:cNvSpPr txBox="1"/>
          <p:nvPr/>
        </p:nvSpPr>
        <p:spPr>
          <a:xfrm>
            <a:off x="939800" y="21463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B248"/>
                </a:solidFill>
                <a:latin typeface="Aptos" panose="020B0004020202020204" pitchFamily="34" charset="0"/>
              </a:rPr>
              <a:t>VẤN ĐỀ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699C99-C94C-7A33-2090-EABEE559C089}"/>
              </a:ext>
            </a:extLst>
          </p:cNvPr>
          <p:cNvSpPr txBox="1"/>
          <p:nvPr/>
        </p:nvSpPr>
        <p:spPr>
          <a:xfrm>
            <a:off x="939800" y="2717800"/>
            <a:ext cx="609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B248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C18951-250B-AE6F-CA5D-AE752B52CC2C}"/>
              </a:ext>
            </a:extLst>
          </p:cNvPr>
          <p:cNvSpPr txBox="1"/>
          <p:nvPr/>
        </p:nvSpPr>
        <p:spPr>
          <a:xfrm>
            <a:off x="1676400" y="2705100"/>
            <a:ext cx="3505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Dữ liệu phân tán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F9C74E-E1F0-367C-5580-40A30EFBAC22}"/>
              </a:ext>
            </a:extLst>
          </p:cNvPr>
          <p:cNvSpPr txBox="1"/>
          <p:nvPr/>
        </p:nvSpPr>
        <p:spPr>
          <a:xfrm>
            <a:off x="1676400" y="3060700"/>
            <a:ext cx="355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C1C9B8"/>
                </a:solidFill>
                <a:latin typeface="Aptos" panose="020B0004020202020204" pitchFamily="34" charset="0"/>
              </a:rPr>
              <a:t>Khó theo dõi xe, khách và thanh toán.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2E6779-EED5-2ADF-300B-31E5088B4C61}"/>
              </a:ext>
            </a:extLst>
          </p:cNvPr>
          <p:cNvSpPr txBox="1"/>
          <p:nvPr/>
        </p:nvSpPr>
        <p:spPr>
          <a:xfrm>
            <a:off x="939800" y="3708400"/>
            <a:ext cx="609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B248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8500DA-B319-D0DD-69FC-EE866C2BB403}"/>
              </a:ext>
            </a:extLst>
          </p:cNvPr>
          <p:cNvSpPr txBox="1"/>
          <p:nvPr/>
        </p:nvSpPr>
        <p:spPr>
          <a:xfrm>
            <a:off x="1676400" y="3695700"/>
            <a:ext cx="3505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Dễ trùng lịch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0FE5A-8189-B5E0-68F1-3B4D1FEB29AF}"/>
              </a:ext>
            </a:extLst>
          </p:cNvPr>
          <p:cNvSpPr txBox="1"/>
          <p:nvPr/>
        </p:nvSpPr>
        <p:spPr>
          <a:xfrm>
            <a:off x="1676400" y="4051300"/>
            <a:ext cx="355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C1C9B8"/>
                </a:solidFill>
                <a:latin typeface="Aptos" panose="020B0004020202020204" pitchFamily="34" charset="0"/>
              </a:rPr>
              <a:t>Xử lý thủ công tiềm ẩn double-booking.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6417B4-03AB-7367-9BA7-5257CF680633}"/>
              </a:ext>
            </a:extLst>
          </p:cNvPr>
          <p:cNvSpPr txBox="1"/>
          <p:nvPr/>
        </p:nvSpPr>
        <p:spPr>
          <a:xfrm>
            <a:off x="939800" y="4699000"/>
            <a:ext cx="609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B24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F46EA9-BF86-DA02-9DD6-CD6E5A0A955C}"/>
              </a:ext>
            </a:extLst>
          </p:cNvPr>
          <p:cNvSpPr txBox="1"/>
          <p:nvPr/>
        </p:nvSpPr>
        <p:spPr>
          <a:xfrm>
            <a:off x="1676400" y="4686300"/>
            <a:ext cx="35052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Thiếu báo cáo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D7D823-ABE1-AA23-F392-37BF6E217395}"/>
              </a:ext>
            </a:extLst>
          </p:cNvPr>
          <p:cNvSpPr txBox="1"/>
          <p:nvPr/>
        </p:nvSpPr>
        <p:spPr>
          <a:xfrm>
            <a:off x="1676400" y="5041900"/>
            <a:ext cx="3556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>
                <a:solidFill>
                  <a:srgbClr val="C1C9B8"/>
                </a:solidFill>
                <a:latin typeface="Aptos" panose="020B0004020202020204" pitchFamily="34" charset="0"/>
              </a:rPr>
              <a:t>Khó đánh giá doanh thu và hiệu suất xe.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C2F093-76DA-50D3-81F4-7A08E29B9219}"/>
              </a:ext>
            </a:extLst>
          </p:cNvPr>
          <p:cNvSpPr/>
          <p:nvPr/>
        </p:nvSpPr>
        <p:spPr>
          <a:xfrm>
            <a:off x="6350000" y="1841500"/>
            <a:ext cx="5232400" cy="4089400"/>
          </a:xfrm>
          <a:prstGeom prst="roundRect">
            <a:avLst/>
          </a:prstGeom>
          <a:solidFill>
            <a:srgbClr val="242D1D"/>
          </a:solidFill>
          <a:ln>
            <a:solidFill>
              <a:srgbClr val="00E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8EA59D-A871-3DB3-26B8-DBF68D583B3B}"/>
              </a:ext>
            </a:extLst>
          </p:cNvPr>
          <p:cNvSpPr txBox="1"/>
          <p:nvPr/>
        </p:nvSpPr>
        <p:spPr>
          <a:xfrm>
            <a:off x="6680200" y="2146300"/>
            <a:ext cx="2413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MỤC TIÊU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E1454EB-17FE-FB35-045F-486A43F4AEA4}"/>
              </a:ext>
            </a:extLst>
          </p:cNvPr>
          <p:cNvSpPr/>
          <p:nvPr/>
        </p:nvSpPr>
        <p:spPr>
          <a:xfrm>
            <a:off x="6680200" y="2819400"/>
            <a:ext cx="355600" cy="3556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436E0C-45C4-3DC6-4FD4-44C8A1AF8EC5}"/>
              </a:ext>
            </a:extLst>
          </p:cNvPr>
          <p:cNvSpPr txBox="1"/>
          <p:nvPr/>
        </p:nvSpPr>
        <p:spPr>
          <a:xfrm>
            <a:off x="6756400" y="2870200"/>
            <a:ext cx="203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495DE1-14D2-FD21-5C9F-A7D61193E33B}"/>
              </a:ext>
            </a:extLst>
          </p:cNvPr>
          <p:cNvSpPr txBox="1"/>
          <p:nvPr/>
        </p:nvSpPr>
        <p:spPr>
          <a:xfrm>
            <a:off x="7239000" y="27940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Quản lý tập trung toàn bộ nghiệp vụ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5302420-EA95-897E-68C9-7C0F7ABE41C4}"/>
              </a:ext>
            </a:extLst>
          </p:cNvPr>
          <p:cNvSpPr/>
          <p:nvPr/>
        </p:nvSpPr>
        <p:spPr>
          <a:xfrm>
            <a:off x="6680200" y="3556000"/>
            <a:ext cx="355600" cy="3556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A70A8F-6652-5F96-EEBA-F75CE7683209}"/>
              </a:ext>
            </a:extLst>
          </p:cNvPr>
          <p:cNvSpPr txBox="1"/>
          <p:nvPr/>
        </p:nvSpPr>
        <p:spPr>
          <a:xfrm>
            <a:off x="6756400" y="3606800"/>
            <a:ext cx="203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76713D-C4B5-2D06-94DB-86DFA5E480F3}"/>
              </a:ext>
            </a:extLst>
          </p:cNvPr>
          <p:cNvSpPr txBox="1"/>
          <p:nvPr/>
        </p:nvSpPr>
        <p:spPr>
          <a:xfrm>
            <a:off x="7239000" y="35306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Cho phép khách tự tìm và đặt xe 24/7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6CCDA4C-CAED-672D-3D55-90AE7D69539A}"/>
              </a:ext>
            </a:extLst>
          </p:cNvPr>
          <p:cNvSpPr/>
          <p:nvPr/>
        </p:nvSpPr>
        <p:spPr>
          <a:xfrm>
            <a:off x="6680200" y="4292600"/>
            <a:ext cx="355600" cy="3556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4B867F8-6FC7-D47A-97C2-89DB6609E8FF}"/>
              </a:ext>
            </a:extLst>
          </p:cNvPr>
          <p:cNvSpPr txBox="1"/>
          <p:nvPr/>
        </p:nvSpPr>
        <p:spPr>
          <a:xfrm>
            <a:off x="6756400" y="4343400"/>
            <a:ext cx="203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75F721-0D6F-0B42-598C-22E628231158}"/>
              </a:ext>
            </a:extLst>
          </p:cNvPr>
          <p:cNvSpPr txBox="1"/>
          <p:nvPr/>
        </p:nvSpPr>
        <p:spPr>
          <a:xfrm>
            <a:off x="7239000" y="42672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Ngăn trùng lịch xe và lịch khách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7F43C49-B4F2-53C4-8455-27F309E1C703}"/>
              </a:ext>
            </a:extLst>
          </p:cNvPr>
          <p:cNvSpPr/>
          <p:nvPr/>
        </p:nvSpPr>
        <p:spPr>
          <a:xfrm>
            <a:off x="6680200" y="5029200"/>
            <a:ext cx="355600" cy="3556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20D62B-C5EC-D4D7-FD9D-F2EEEA668400}"/>
              </a:ext>
            </a:extLst>
          </p:cNvPr>
          <p:cNvSpPr txBox="1"/>
          <p:nvPr/>
        </p:nvSpPr>
        <p:spPr>
          <a:xfrm>
            <a:off x="6756400" y="5080000"/>
            <a:ext cx="203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DE2042-2309-23F5-ED23-D37ECAC495FE}"/>
              </a:ext>
            </a:extLst>
          </p:cNvPr>
          <p:cNvSpPr txBox="1"/>
          <p:nvPr/>
        </p:nvSpPr>
        <p:spPr>
          <a:xfrm>
            <a:off x="7239000" y="5003800"/>
            <a:ext cx="3911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Hỗ trợ ra quyết định bằng dashboard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4083E8-D287-073C-EFC8-496472F3EDE4}"/>
              </a:ext>
            </a:extLst>
          </p:cNvPr>
          <p:cNvSpPr txBox="1"/>
          <p:nvPr/>
        </p:nvSpPr>
        <p:spPr>
          <a:xfrm>
            <a:off x="584200" y="65151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64438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A5358F9-F65D-D37A-EC96-263C16389744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BCF9E-ED21-D909-73FD-2EA48EC3F965}"/>
              </a:ext>
            </a:extLst>
          </p:cNvPr>
          <p:cNvSpPr txBox="1"/>
          <p:nvPr/>
        </p:nvSpPr>
        <p:spPr>
          <a:xfrm>
            <a:off x="673100" y="3937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CÔNG NGHỆ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F5A7C3-2DA4-CBEF-F57B-34E6969AB53D}"/>
              </a:ext>
            </a:extLst>
          </p:cNvPr>
          <p:cNvSpPr txBox="1"/>
          <p:nvPr/>
        </p:nvSpPr>
        <p:spPr>
          <a:xfrm>
            <a:off x="584200" y="7874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Kiến trúc hệ thống 3 lớp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05224-36DB-824C-BEEB-82E9628EE78E}"/>
              </a:ext>
            </a:extLst>
          </p:cNvPr>
          <p:cNvSpPr txBox="1"/>
          <p:nvPr/>
        </p:nvSpPr>
        <p:spPr>
          <a:xfrm>
            <a:off x="11341100" y="406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200" b="1">
                <a:solidFill>
                  <a:srgbClr val="C1C9B8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92AFA19-72FE-5E7C-5556-60250DAD4AD3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93BBF5-3D36-DB51-C59C-0600A68D5F80}"/>
              </a:ext>
            </a:extLst>
          </p:cNvPr>
          <p:cNvSpPr/>
          <p:nvPr/>
        </p:nvSpPr>
        <p:spPr>
          <a:xfrm>
            <a:off x="635000" y="2082800"/>
            <a:ext cx="3200400" cy="27940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846141-1FA8-68CF-1EC0-B29D8B1F5D98}"/>
              </a:ext>
            </a:extLst>
          </p:cNvPr>
          <p:cNvSpPr/>
          <p:nvPr/>
        </p:nvSpPr>
        <p:spPr>
          <a:xfrm>
            <a:off x="1676400" y="2374900"/>
            <a:ext cx="1117600" cy="11176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E722D-472C-A715-3B15-F9F002A42256}"/>
              </a:ext>
            </a:extLst>
          </p:cNvPr>
          <p:cNvSpPr txBox="1"/>
          <p:nvPr/>
        </p:nvSpPr>
        <p:spPr>
          <a:xfrm>
            <a:off x="1968500" y="2679700"/>
            <a:ext cx="533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141710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F1BC9D-02FE-9C23-F491-A60FE57367F7}"/>
              </a:ext>
            </a:extLst>
          </p:cNvPr>
          <p:cNvSpPr txBox="1"/>
          <p:nvPr/>
        </p:nvSpPr>
        <p:spPr>
          <a:xfrm>
            <a:off x="889000" y="3759200"/>
            <a:ext cx="269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BA9106-1077-A45E-58E8-1DD660C51FD8}"/>
              </a:ext>
            </a:extLst>
          </p:cNvPr>
          <p:cNvSpPr txBox="1"/>
          <p:nvPr/>
        </p:nvSpPr>
        <p:spPr>
          <a:xfrm>
            <a:off x="889000" y="4254500"/>
            <a:ext cx="2692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>
                <a:solidFill>
                  <a:srgbClr val="C1C9B8"/>
                </a:solidFill>
                <a:latin typeface="Aptos" panose="020B0004020202020204" pitchFamily="34" charset="0"/>
              </a:rPr>
              <a:t>React 19
Vite · React Router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3E6D3D1-6686-D7CC-2CED-98FF1E200D62}"/>
              </a:ext>
            </a:extLst>
          </p:cNvPr>
          <p:cNvCxnSpPr/>
          <p:nvPr/>
        </p:nvCxnSpPr>
        <p:spPr>
          <a:xfrm>
            <a:off x="3937000" y="3479800"/>
            <a:ext cx="406400" cy="0"/>
          </a:xfrm>
          <a:prstGeom prst="line">
            <a:avLst/>
          </a:prstGeom>
          <a:ln w="381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2128E93-506B-40BB-8568-EA6E223A4600}"/>
              </a:ext>
            </a:extLst>
          </p:cNvPr>
          <p:cNvSpPr/>
          <p:nvPr/>
        </p:nvSpPr>
        <p:spPr>
          <a:xfrm>
            <a:off x="4495800" y="2082800"/>
            <a:ext cx="3200400" cy="27940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4F0350-A2B5-E4F8-2699-28788CBFC1BA}"/>
              </a:ext>
            </a:extLst>
          </p:cNvPr>
          <p:cNvSpPr/>
          <p:nvPr/>
        </p:nvSpPr>
        <p:spPr>
          <a:xfrm>
            <a:off x="5537200" y="2374900"/>
            <a:ext cx="1117600" cy="1117600"/>
          </a:xfrm>
          <a:prstGeom prst="ellipse">
            <a:avLst/>
          </a:prstGeom>
          <a:solidFill>
            <a:srgbClr val="4FB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63DA88-438D-AF05-EBA6-4AA6EC8F583E}"/>
              </a:ext>
            </a:extLst>
          </p:cNvPr>
          <p:cNvSpPr txBox="1"/>
          <p:nvPr/>
        </p:nvSpPr>
        <p:spPr>
          <a:xfrm>
            <a:off x="5829300" y="2679700"/>
            <a:ext cx="533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14171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84BD2E-A62B-64A7-D87B-B73490C5A110}"/>
              </a:ext>
            </a:extLst>
          </p:cNvPr>
          <p:cNvSpPr txBox="1"/>
          <p:nvPr/>
        </p:nvSpPr>
        <p:spPr>
          <a:xfrm>
            <a:off x="4749800" y="3759200"/>
            <a:ext cx="269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BACKEND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6FD2A2-4F0E-B2E4-6364-A541EB12BFFB}"/>
              </a:ext>
            </a:extLst>
          </p:cNvPr>
          <p:cNvSpPr txBox="1"/>
          <p:nvPr/>
        </p:nvSpPr>
        <p:spPr>
          <a:xfrm>
            <a:off x="4749800" y="4254500"/>
            <a:ext cx="2692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>
                <a:solidFill>
                  <a:srgbClr val="C1C9B8"/>
                </a:solidFill>
                <a:latin typeface="Aptos" panose="020B0004020202020204" pitchFamily="34" charset="0"/>
              </a:rPr>
              <a:t>FastAPI
REST API · Pydantic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854262B-6167-0BA8-24F4-3C0612EDE67C}"/>
              </a:ext>
            </a:extLst>
          </p:cNvPr>
          <p:cNvCxnSpPr/>
          <p:nvPr/>
        </p:nvCxnSpPr>
        <p:spPr>
          <a:xfrm>
            <a:off x="7797800" y="3479800"/>
            <a:ext cx="406400" cy="0"/>
          </a:xfrm>
          <a:prstGeom prst="line">
            <a:avLst/>
          </a:prstGeom>
          <a:ln w="381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1229EA-6262-0469-3594-D95576B6A452}"/>
              </a:ext>
            </a:extLst>
          </p:cNvPr>
          <p:cNvSpPr/>
          <p:nvPr/>
        </p:nvSpPr>
        <p:spPr>
          <a:xfrm>
            <a:off x="8356600" y="2082800"/>
            <a:ext cx="3200400" cy="27940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4301642-BE0A-093A-595E-ED366F5B675A}"/>
              </a:ext>
            </a:extLst>
          </p:cNvPr>
          <p:cNvSpPr/>
          <p:nvPr/>
        </p:nvSpPr>
        <p:spPr>
          <a:xfrm>
            <a:off x="9398000" y="2374900"/>
            <a:ext cx="1117600" cy="11176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AC6F81-69C5-A390-23D5-9CF4AAF8CFE9}"/>
              </a:ext>
            </a:extLst>
          </p:cNvPr>
          <p:cNvSpPr txBox="1"/>
          <p:nvPr/>
        </p:nvSpPr>
        <p:spPr>
          <a:xfrm>
            <a:off x="9690100" y="2679700"/>
            <a:ext cx="533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14171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3BBB71-6283-7FCA-2109-658E1ED884E8}"/>
              </a:ext>
            </a:extLst>
          </p:cNvPr>
          <p:cNvSpPr txBox="1"/>
          <p:nvPr/>
        </p:nvSpPr>
        <p:spPr>
          <a:xfrm>
            <a:off x="8610600" y="3759200"/>
            <a:ext cx="26924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100" b="1">
                <a:solidFill>
                  <a:srgbClr val="FFFFFF"/>
                </a:solidFill>
                <a:latin typeface="Aptos" panose="020B0004020202020204" pitchFamily="34" charset="0"/>
              </a:rPr>
              <a:t>DATABASE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434577E-D4CD-389A-D364-E6FBEE778C1A}"/>
              </a:ext>
            </a:extLst>
          </p:cNvPr>
          <p:cNvSpPr txBox="1"/>
          <p:nvPr/>
        </p:nvSpPr>
        <p:spPr>
          <a:xfrm>
            <a:off x="8610600" y="4254500"/>
            <a:ext cx="26924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700">
                <a:solidFill>
                  <a:srgbClr val="C1C9B8"/>
                </a:solidFill>
                <a:latin typeface="Aptos" panose="020B0004020202020204" pitchFamily="34" charset="0"/>
              </a:rPr>
              <a:t>SQLAlchemy ORM
PostgreSQL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3FB08A5-197A-41A8-DA13-BCF895788178}"/>
              </a:ext>
            </a:extLst>
          </p:cNvPr>
          <p:cNvSpPr/>
          <p:nvPr/>
        </p:nvSpPr>
        <p:spPr>
          <a:xfrm>
            <a:off x="1422400" y="5346700"/>
            <a:ext cx="9347200" cy="7366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173BC0-93FB-91CE-7E46-2EC261032863}"/>
              </a:ext>
            </a:extLst>
          </p:cNvPr>
          <p:cNvSpPr txBox="1"/>
          <p:nvPr/>
        </p:nvSpPr>
        <p:spPr>
          <a:xfrm>
            <a:off x="1727200" y="5562600"/>
            <a:ext cx="139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E698"/>
                </a:solidFill>
                <a:latin typeface="Aptos" panose="020B0004020202020204" pitchFamily="34" charset="0"/>
              </a:rPr>
              <a:t>BẢO MẬT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7EB84E-4830-9B4F-813F-7723541B7F37}"/>
              </a:ext>
            </a:extLst>
          </p:cNvPr>
          <p:cNvSpPr txBox="1"/>
          <p:nvPr/>
        </p:nvSpPr>
        <p:spPr>
          <a:xfrm>
            <a:off x="3276600" y="55372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JWT  ·  PBKDF2-SHA256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BE424D-3BB3-3E7B-1DD0-D946DDB91C95}"/>
              </a:ext>
            </a:extLst>
          </p:cNvPr>
          <p:cNvSpPr txBox="1"/>
          <p:nvPr/>
        </p:nvSpPr>
        <p:spPr>
          <a:xfrm>
            <a:off x="7086600" y="5562600"/>
            <a:ext cx="1397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00E698"/>
                </a:solidFill>
                <a:latin typeface="Aptos" panose="020B0004020202020204" pitchFamily="34" charset="0"/>
              </a:rPr>
              <a:t>BÁO CÁO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622623A-7703-C0CD-1BD3-DC1EEE096506}"/>
              </a:ext>
            </a:extLst>
          </p:cNvPr>
          <p:cNvSpPr txBox="1"/>
          <p:nvPr/>
        </p:nvSpPr>
        <p:spPr>
          <a:xfrm>
            <a:off x="8648700" y="5537200"/>
            <a:ext cx="177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CSV  ·  Excel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7D3735-05FC-6F34-3824-3097D4D790A2}"/>
              </a:ext>
            </a:extLst>
          </p:cNvPr>
          <p:cNvSpPr txBox="1"/>
          <p:nvPr/>
        </p:nvSpPr>
        <p:spPr>
          <a:xfrm>
            <a:off x="584200" y="65151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87647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DA192E-AA9A-22B5-8615-5A3AB680916A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F9737C-EB89-8470-00A1-DC47F1EF488A}"/>
              </a:ext>
            </a:extLst>
          </p:cNvPr>
          <p:cNvSpPr txBox="1"/>
          <p:nvPr/>
        </p:nvSpPr>
        <p:spPr>
          <a:xfrm>
            <a:off x="673100" y="3937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PHÂN TÍCH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1A69DB-44EF-C611-D9DF-8B417A7E7383}"/>
              </a:ext>
            </a:extLst>
          </p:cNvPr>
          <p:cNvSpPr txBox="1"/>
          <p:nvPr/>
        </p:nvSpPr>
        <p:spPr>
          <a:xfrm>
            <a:off x="584200" y="7874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Luồng nghiệp vụ xuyên suốt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BA81D-8F68-C635-C33A-C9031D1DD359}"/>
              </a:ext>
            </a:extLst>
          </p:cNvPr>
          <p:cNvSpPr txBox="1"/>
          <p:nvPr/>
        </p:nvSpPr>
        <p:spPr>
          <a:xfrm>
            <a:off x="11341100" y="406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200" b="1">
                <a:solidFill>
                  <a:srgbClr val="C1C9B8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88DDD84-40C3-6F0C-A9B2-5D4F5ABDD109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BDA206C-2615-7622-69B1-2FEAC85FB01F}"/>
              </a:ext>
            </a:extLst>
          </p:cNvPr>
          <p:cNvSpPr/>
          <p:nvPr/>
        </p:nvSpPr>
        <p:spPr>
          <a:xfrm>
            <a:off x="635000" y="1828800"/>
            <a:ext cx="3454400" cy="990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B13D92-578B-03D0-BE49-F3C89DF329CF}"/>
              </a:ext>
            </a:extLst>
          </p:cNvPr>
          <p:cNvSpPr/>
          <p:nvPr/>
        </p:nvSpPr>
        <p:spPr>
          <a:xfrm>
            <a:off x="635000" y="1828800"/>
            <a:ext cx="88900" cy="990600"/>
          </a:xfrm>
          <a:prstGeom prst="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C50DA-3862-6808-EA0D-4A54A2A3B84F}"/>
              </a:ext>
            </a:extLst>
          </p:cNvPr>
          <p:cNvSpPr txBox="1"/>
          <p:nvPr/>
        </p:nvSpPr>
        <p:spPr>
          <a:xfrm>
            <a:off x="914400" y="2006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KHÁCH HÀNG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9BBB36-A781-E652-9A14-8BF8F929EAFE}"/>
              </a:ext>
            </a:extLst>
          </p:cNvPr>
          <p:cNvSpPr txBox="1"/>
          <p:nvPr/>
        </p:nvSpPr>
        <p:spPr>
          <a:xfrm>
            <a:off x="914400" y="2387600"/>
            <a:ext cx="2870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1C9B8"/>
                </a:solidFill>
                <a:latin typeface="Aptos" panose="020B0004020202020204" pitchFamily="34" charset="0"/>
              </a:rPr>
              <a:t>Tìm xe · Đặt xe · Theo dõi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405091-82F8-F8F2-8269-98B0E221ADB8}"/>
              </a:ext>
            </a:extLst>
          </p:cNvPr>
          <p:cNvSpPr/>
          <p:nvPr/>
        </p:nvSpPr>
        <p:spPr>
          <a:xfrm>
            <a:off x="4368800" y="1828800"/>
            <a:ext cx="3454400" cy="990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7EFBBE-B258-6EC0-9533-FF6AC4D3625B}"/>
              </a:ext>
            </a:extLst>
          </p:cNvPr>
          <p:cNvSpPr/>
          <p:nvPr/>
        </p:nvSpPr>
        <p:spPr>
          <a:xfrm>
            <a:off x="4368800" y="1828800"/>
            <a:ext cx="88900" cy="990600"/>
          </a:xfrm>
          <a:prstGeom prst="rect">
            <a:avLst/>
          </a:prstGeom>
          <a:solidFill>
            <a:srgbClr val="4FB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22B2C7-E25D-F029-349B-7EF386F9B766}"/>
              </a:ext>
            </a:extLst>
          </p:cNvPr>
          <p:cNvSpPr txBox="1"/>
          <p:nvPr/>
        </p:nvSpPr>
        <p:spPr>
          <a:xfrm>
            <a:off x="4648200" y="2006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NHÂN VIÊN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8E4FF9-06EA-5E4C-E4AC-BFC2734A2886}"/>
              </a:ext>
            </a:extLst>
          </p:cNvPr>
          <p:cNvSpPr txBox="1"/>
          <p:nvPr/>
        </p:nvSpPr>
        <p:spPr>
          <a:xfrm>
            <a:off x="4648200" y="2387600"/>
            <a:ext cx="2870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1C9B8"/>
                </a:solidFill>
                <a:latin typeface="Aptos" panose="020B0004020202020204" pitchFamily="34" charset="0"/>
              </a:rPr>
              <a:t>Duyệt · Thu tiền · Hỗ trợ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E8BAD50-914D-7510-926A-5E724F61A258}"/>
              </a:ext>
            </a:extLst>
          </p:cNvPr>
          <p:cNvSpPr/>
          <p:nvPr/>
        </p:nvSpPr>
        <p:spPr>
          <a:xfrm>
            <a:off x="8102600" y="1828800"/>
            <a:ext cx="3454400" cy="990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16CC3C-78CD-69F7-418E-232BC81F2B0D}"/>
              </a:ext>
            </a:extLst>
          </p:cNvPr>
          <p:cNvSpPr/>
          <p:nvPr/>
        </p:nvSpPr>
        <p:spPr>
          <a:xfrm>
            <a:off x="8102600" y="1828800"/>
            <a:ext cx="88900" cy="990600"/>
          </a:xfrm>
          <a:prstGeom prst="rect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01F8BD-0292-680B-8B3B-369B6846B8B8}"/>
              </a:ext>
            </a:extLst>
          </p:cNvPr>
          <p:cNvSpPr txBox="1"/>
          <p:nvPr/>
        </p:nvSpPr>
        <p:spPr>
          <a:xfrm>
            <a:off x="8382000" y="2006600"/>
            <a:ext cx="2870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QUẢN TRỊ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6B6C6-4708-08D8-6E92-CBD4DB4F92A0}"/>
              </a:ext>
            </a:extLst>
          </p:cNvPr>
          <p:cNvSpPr txBox="1"/>
          <p:nvPr/>
        </p:nvSpPr>
        <p:spPr>
          <a:xfrm>
            <a:off x="8382000" y="2387600"/>
            <a:ext cx="28702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1C9B8"/>
                </a:solidFill>
                <a:latin typeface="Aptos" panose="020B0004020202020204" pitchFamily="34" charset="0"/>
              </a:rPr>
              <a:t>Quản lý · Báo cáo · Phân quyền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9B0F6F-EB22-0727-5CF9-362D2363CC35}"/>
              </a:ext>
            </a:extLst>
          </p:cNvPr>
          <p:cNvSpPr txBox="1"/>
          <p:nvPr/>
        </p:nvSpPr>
        <p:spPr>
          <a:xfrm>
            <a:off x="635000" y="3302000"/>
            <a:ext cx="3810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QUY TRÌNH THUÊ XE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7AE079D-CE36-61C4-2BCA-8199D53CB165}"/>
              </a:ext>
            </a:extLst>
          </p:cNvPr>
          <p:cNvSpPr/>
          <p:nvPr/>
        </p:nvSpPr>
        <p:spPr>
          <a:xfrm>
            <a:off x="635000" y="3962400"/>
            <a:ext cx="1320800" cy="1041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19EF95-3897-34DD-D2B0-4183209A4284}"/>
              </a:ext>
            </a:extLst>
          </p:cNvPr>
          <p:cNvSpPr txBox="1"/>
          <p:nvPr/>
        </p:nvSpPr>
        <p:spPr>
          <a:xfrm>
            <a:off x="787400" y="4102100"/>
            <a:ext cx="40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E698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607E19-EBD7-6D25-C79B-2981105F2FEC}"/>
              </a:ext>
            </a:extLst>
          </p:cNvPr>
          <p:cNvSpPr txBox="1"/>
          <p:nvPr/>
        </p:nvSpPr>
        <p:spPr>
          <a:xfrm>
            <a:off x="762000" y="4445000"/>
            <a:ext cx="106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CHỌN XE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48F7B4C-3F45-D774-0F3D-5E0913A61CB0}"/>
              </a:ext>
            </a:extLst>
          </p:cNvPr>
          <p:cNvCxnSpPr/>
          <p:nvPr/>
        </p:nvCxnSpPr>
        <p:spPr>
          <a:xfrm>
            <a:off x="2006600" y="4483100"/>
            <a:ext cx="2032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C29D07B-32D1-CCF7-2291-C1D78E5328D4}"/>
              </a:ext>
            </a:extLst>
          </p:cNvPr>
          <p:cNvSpPr/>
          <p:nvPr/>
        </p:nvSpPr>
        <p:spPr>
          <a:xfrm>
            <a:off x="2222500" y="3962400"/>
            <a:ext cx="1320800" cy="10414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844BF6-3417-C998-A570-D6DA4ABA8459}"/>
              </a:ext>
            </a:extLst>
          </p:cNvPr>
          <p:cNvSpPr txBox="1"/>
          <p:nvPr/>
        </p:nvSpPr>
        <p:spPr>
          <a:xfrm>
            <a:off x="2374900" y="4102100"/>
            <a:ext cx="40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14171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324D9AF-3E18-9AF8-DAC1-1D5F331A0FFB}"/>
              </a:ext>
            </a:extLst>
          </p:cNvPr>
          <p:cNvSpPr txBox="1"/>
          <p:nvPr/>
        </p:nvSpPr>
        <p:spPr>
          <a:xfrm>
            <a:off x="2349500" y="4445000"/>
            <a:ext cx="106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141710"/>
                </a:solidFill>
                <a:latin typeface="Aptos" panose="020B0004020202020204" pitchFamily="34" charset="0"/>
              </a:rPr>
              <a:t>KIỂM TRA
LỊCH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3E24CBB-DD51-5704-65DE-6717E0296EB4}"/>
              </a:ext>
            </a:extLst>
          </p:cNvPr>
          <p:cNvCxnSpPr/>
          <p:nvPr/>
        </p:nvCxnSpPr>
        <p:spPr>
          <a:xfrm>
            <a:off x="3594100" y="4483100"/>
            <a:ext cx="2032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D467877-7507-7C01-8E0C-B11A6EE73818}"/>
              </a:ext>
            </a:extLst>
          </p:cNvPr>
          <p:cNvSpPr/>
          <p:nvPr/>
        </p:nvSpPr>
        <p:spPr>
          <a:xfrm>
            <a:off x="3810000" y="3962400"/>
            <a:ext cx="1320800" cy="1041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5B7988-6EB2-617A-CE3B-376EE12F3411}"/>
              </a:ext>
            </a:extLst>
          </p:cNvPr>
          <p:cNvSpPr txBox="1"/>
          <p:nvPr/>
        </p:nvSpPr>
        <p:spPr>
          <a:xfrm>
            <a:off x="3962400" y="4102100"/>
            <a:ext cx="40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E69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7021143-AB8D-B20B-1A3D-7757EE94389A}"/>
              </a:ext>
            </a:extLst>
          </p:cNvPr>
          <p:cNvSpPr txBox="1"/>
          <p:nvPr/>
        </p:nvSpPr>
        <p:spPr>
          <a:xfrm>
            <a:off x="3937000" y="4445000"/>
            <a:ext cx="106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GIỮ CHỖ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57E41B9-3C48-969E-FDD7-1B00DE67E477}"/>
              </a:ext>
            </a:extLst>
          </p:cNvPr>
          <p:cNvCxnSpPr/>
          <p:nvPr/>
        </p:nvCxnSpPr>
        <p:spPr>
          <a:xfrm>
            <a:off x="5181600" y="4483100"/>
            <a:ext cx="2032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1ED71E84-87A0-EBA6-35D1-A1F9985A107C}"/>
              </a:ext>
            </a:extLst>
          </p:cNvPr>
          <p:cNvSpPr/>
          <p:nvPr/>
        </p:nvSpPr>
        <p:spPr>
          <a:xfrm>
            <a:off x="5397500" y="3962400"/>
            <a:ext cx="1320800" cy="1041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56C978-5798-B0E6-5580-2001CEAAB3B1}"/>
              </a:ext>
            </a:extLst>
          </p:cNvPr>
          <p:cNvSpPr txBox="1"/>
          <p:nvPr/>
        </p:nvSpPr>
        <p:spPr>
          <a:xfrm>
            <a:off x="5549900" y="4102100"/>
            <a:ext cx="40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E698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37E6F9-EA64-BADE-043A-479F5C39C9EC}"/>
              </a:ext>
            </a:extLst>
          </p:cNvPr>
          <p:cNvSpPr txBox="1"/>
          <p:nvPr/>
        </p:nvSpPr>
        <p:spPr>
          <a:xfrm>
            <a:off x="5524500" y="4445000"/>
            <a:ext cx="106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DUYỆT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D239D0A-BDD2-893C-4A7E-57F051937C5F}"/>
              </a:ext>
            </a:extLst>
          </p:cNvPr>
          <p:cNvCxnSpPr/>
          <p:nvPr/>
        </p:nvCxnSpPr>
        <p:spPr>
          <a:xfrm>
            <a:off x="6769100" y="4483100"/>
            <a:ext cx="2032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F4F72C72-2AD3-CF72-9E0D-5DAF03FD92AE}"/>
              </a:ext>
            </a:extLst>
          </p:cNvPr>
          <p:cNvSpPr/>
          <p:nvPr/>
        </p:nvSpPr>
        <p:spPr>
          <a:xfrm>
            <a:off x="6985000" y="3962400"/>
            <a:ext cx="1320800" cy="1041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3DBA6-97A6-5FB0-D703-B8B7FC271D4F}"/>
              </a:ext>
            </a:extLst>
          </p:cNvPr>
          <p:cNvSpPr txBox="1"/>
          <p:nvPr/>
        </p:nvSpPr>
        <p:spPr>
          <a:xfrm>
            <a:off x="7137400" y="4102100"/>
            <a:ext cx="40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E698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5344F-B799-8A69-C9DC-A2F2B9616ADE}"/>
              </a:ext>
            </a:extLst>
          </p:cNvPr>
          <p:cNvSpPr txBox="1"/>
          <p:nvPr/>
        </p:nvSpPr>
        <p:spPr>
          <a:xfrm>
            <a:off x="7112000" y="4445000"/>
            <a:ext cx="10668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THANH
TOÁN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5715DF6-339D-9B4C-4744-D8AB87AE1328}"/>
              </a:ext>
            </a:extLst>
          </p:cNvPr>
          <p:cNvCxnSpPr/>
          <p:nvPr/>
        </p:nvCxnSpPr>
        <p:spPr>
          <a:xfrm>
            <a:off x="8356600" y="4483100"/>
            <a:ext cx="2032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FF7608F-8DF4-FC29-E3D9-DD1833B64C93}"/>
              </a:ext>
            </a:extLst>
          </p:cNvPr>
          <p:cNvSpPr/>
          <p:nvPr/>
        </p:nvSpPr>
        <p:spPr>
          <a:xfrm>
            <a:off x="8572500" y="3962400"/>
            <a:ext cx="1320800" cy="1041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23FBE7E-D57C-ED4E-B061-1274981C3630}"/>
              </a:ext>
            </a:extLst>
          </p:cNvPr>
          <p:cNvSpPr txBox="1"/>
          <p:nvPr/>
        </p:nvSpPr>
        <p:spPr>
          <a:xfrm>
            <a:off x="8724900" y="4102100"/>
            <a:ext cx="40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E698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B61DCC-0EC8-810A-5371-204F2C772701}"/>
              </a:ext>
            </a:extLst>
          </p:cNvPr>
          <p:cNvSpPr txBox="1"/>
          <p:nvPr/>
        </p:nvSpPr>
        <p:spPr>
          <a:xfrm>
            <a:off x="8699500" y="4445000"/>
            <a:ext cx="106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HỢP ĐỒNG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BFAB0D9-BED4-F0BB-5217-E37C62CAA2B2}"/>
              </a:ext>
            </a:extLst>
          </p:cNvPr>
          <p:cNvCxnSpPr/>
          <p:nvPr/>
        </p:nvCxnSpPr>
        <p:spPr>
          <a:xfrm>
            <a:off x="9944100" y="4483100"/>
            <a:ext cx="203200" cy="0"/>
          </a:xfrm>
          <a:prstGeom prst="line">
            <a:avLst/>
          </a:prstGeom>
          <a:ln w="254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3338F44-68C7-A9DF-99F3-2D5A2C5249D1}"/>
              </a:ext>
            </a:extLst>
          </p:cNvPr>
          <p:cNvSpPr/>
          <p:nvPr/>
        </p:nvSpPr>
        <p:spPr>
          <a:xfrm>
            <a:off x="10160000" y="3962400"/>
            <a:ext cx="1320800" cy="1041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4E6E52-FEC3-504E-D2F0-9425A6AB741C}"/>
              </a:ext>
            </a:extLst>
          </p:cNvPr>
          <p:cNvSpPr txBox="1"/>
          <p:nvPr/>
        </p:nvSpPr>
        <p:spPr>
          <a:xfrm>
            <a:off x="10312400" y="4102100"/>
            <a:ext cx="4064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400" b="1">
                <a:solidFill>
                  <a:srgbClr val="00E698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31E4698-53A5-9EFB-DD7A-BBD3DE8B22E2}"/>
              </a:ext>
            </a:extLst>
          </p:cNvPr>
          <p:cNvSpPr txBox="1"/>
          <p:nvPr/>
        </p:nvSpPr>
        <p:spPr>
          <a:xfrm>
            <a:off x="10287000" y="4445000"/>
            <a:ext cx="1066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TRẢ XE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67219928-1536-A872-04DF-32DBF79BACA9}"/>
              </a:ext>
            </a:extLst>
          </p:cNvPr>
          <p:cNvSpPr/>
          <p:nvPr/>
        </p:nvSpPr>
        <p:spPr>
          <a:xfrm>
            <a:off x="2133600" y="5473700"/>
            <a:ext cx="7924800" cy="609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D3B0D7C-F2CC-A7A4-BE10-CB8A2D206D0E}"/>
              </a:ext>
            </a:extLst>
          </p:cNvPr>
          <p:cNvSpPr txBox="1"/>
          <p:nvPr/>
        </p:nvSpPr>
        <p:spPr>
          <a:xfrm>
            <a:off x="2387600" y="5651500"/>
            <a:ext cx="7416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700" b="1">
                <a:solidFill>
                  <a:srgbClr val="FFFFFF"/>
                </a:solidFill>
                <a:latin typeface="Aptos" panose="020B0004020202020204" pitchFamily="34" charset="0"/>
              </a:rPr>
              <a:t>Trạng thái được đồng bộ giữa xe, yêu cầu thuê, thanh toán và hợp đồng</a:t>
            </a:r>
            <a:endParaRPr lang="en-US" sz="17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65123C-4D2F-C3BC-EF18-3BF9CAA217F8}"/>
              </a:ext>
            </a:extLst>
          </p:cNvPr>
          <p:cNvSpPr txBox="1"/>
          <p:nvPr/>
        </p:nvSpPr>
        <p:spPr>
          <a:xfrm>
            <a:off x="584200" y="65151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64528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B8327D1-F341-86FA-8BE7-F391810F4964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6F679F-F5A3-E341-C3EE-6AD7064E31FA}"/>
              </a:ext>
            </a:extLst>
          </p:cNvPr>
          <p:cNvSpPr txBox="1"/>
          <p:nvPr/>
        </p:nvSpPr>
        <p:spPr>
          <a:xfrm>
            <a:off x="673100" y="3937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THIẾT KẾ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0AFF4D-31ED-A085-BBD7-A5CEFBAE7C5B}"/>
              </a:ext>
            </a:extLst>
          </p:cNvPr>
          <p:cNvSpPr txBox="1"/>
          <p:nvPr/>
        </p:nvSpPr>
        <p:spPr>
          <a:xfrm>
            <a:off x="584200" y="7874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Mô hình dữ liệu cốt lõi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D67DD-24C1-7CC7-331C-38845EB4F526}"/>
              </a:ext>
            </a:extLst>
          </p:cNvPr>
          <p:cNvSpPr txBox="1"/>
          <p:nvPr/>
        </p:nvSpPr>
        <p:spPr>
          <a:xfrm>
            <a:off x="11341100" y="406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200" b="1">
                <a:solidFill>
                  <a:srgbClr val="C1C9B8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FCC170-04E4-B4EC-AE53-53F37AD8E3A1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4D69DC0-5229-296A-16EF-F9D775788EB1}"/>
              </a:ext>
            </a:extLst>
          </p:cNvPr>
          <p:cNvSpPr/>
          <p:nvPr/>
        </p:nvSpPr>
        <p:spPr>
          <a:xfrm>
            <a:off x="635000" y="1905000"/>
            <a:ext cx="2209800" cy="16764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241DA3-47CB-CFE4-92E4-1DCAD325E36A}"/>
              </a:ext>
            </a:extLst>
          </p:cNvPr>
          <p:cNvSpPr/>
          <p:nvPr/>
        </p:nvSpPr>
        <p:spPr>
          <a:xfrm>
            <a:off x="635000" y="1905000"/>
            <a:ext cx="2209800" cy="4826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D48B3-4785-3B06-2194-3C12026D213B}"/>
              </a:ext>
            </a:extLst>
          </p:cNvPr>
          <p:cNvSpPr txBox="1"/>
          <p:nvPr/>
        </p:nvSpPr>
        <p:spPr>
          <a:xfrm>
            <a:off x="812800" y="2019300"/>
            <a:ext cx="1854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41710"/>
                </a:solidFill>
                <a:latin typeface="Aptos" panose="020B0004020202020204" pitchFamily="34" charset="0"/>
              </a:rPr>
              <a:t>CUSTOMER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BDAEF8-A3A9-4624-AED5-0C0709E64767}"/>
              </a:ext>
            </a:extLst>
          </p:cNvPr>
          <p:cNvSpPr txBox="1"/>
          <p:nvPr/>
        </p:nvSpPr>
        <p:spPr>
          <a:xfrm>
            <a:off x="812800" y="2540000"/>
            <a:ext cx="1854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1C9B8"/>
                </a:solidFill>
                <a:latin typeface="Aptos" panose="020B0004020202020204" pitchFamily="34" charset="0"/>
              </a:rPr>
              <a:t>PK customer_id
name · phone · email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2B85A7-F6F2-EA5B-7922-29B79867C4C3}"/>
              </a:ext>
            </a:extLst>
          </p:cNvPr>
          <p:cNvSpPr/>
          <p:nvPr/>
        </p:nvSpPr>
        <p:spPr>
          <a:xfrm>
            <a:off x="3352800" y="1905000"/>
            <a:ext cx="2413000" cy="16764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6CAF58C-1BA8-8A96-2D05-95E04F20A54A}"/>
              </a:ext>
            </a:extLst>
          </p:cNvPr>
          <p:cNvSpPr/>
          <p:nvPr/>
        </p:nvSpPr>
        <p:spPr>
          <a:xfrm>
            <a:off x="3352800" y="1905000"/>
            <a:ext cx="2413000" cy="482600"/>
          </a:xfrm>
          <a:prstGeom prst="roundRect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70B7E1-376C-46B6-2C22-604678EA80A2}"/>
              </a:ext>
            </a:extLst>
          </p:cNvPr>
          <p:cNvSpPr txBox="1"/>
          <p:nvPr/>
        </p:nvSpPr>
        <p:spPr>
          <a:xfrm>
            <a:off x="3530600" y="2019300"/>
            <a:ext cx="2057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41710"/>
                </a:solidFill>
                <a:latin typeface="Aptos" panose="020B0004020202020204" pitchFamily="34" charset="0"/>
              </a:rPr>
              <a:t>RENTAL REQUEST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C1C835-4C02-4BFB-823E-F37D98DAC175}"/>
              </a:ext>
            </a:extLst>
          </p:cNvPr>
          <p:cNvSpPr txBox="1"/>
          <p:nvPr/>
        </p:nvSpPr>
        <p:spPr>
          <a:xfrm>
            <a:off x="3530600" y="254000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1C9B8"/>
                </a:solidFill>
                <a:latin typeface="Aptos" panose="020B0004020202020204" pitchFamily="34" charset="0"/>
              </a:rPr>
              <a:t>PK request_id
FK customer_id · car_id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68E1F91-3F29-ED62-41CA-31445620973E}"/>
              </a:ext>
            </a:extLst>
          </p:cNvPr>
          <p:cNvSpPr/>
          <p:nvPr/>
        </p:nvSpPr>
        <p:spPr>
          <a:xfrm>
            <a:off x="6273800" y="1905000"/>
            <a:ext cx="2209800" cy="16764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BA0121-DC44-39D6-33D9-5E89C47C34ED}"/>
              </a:ext>
            </a:extLst>
          </p:cNvPr>
          <p:cNvSpPr/>
          <p:nvPr/>
        </p:nvSpPr>
        <p:spPr>
          <a:xfrm>
            <a:off x="6273800" y="1905000"/>
            <a:ext cx="2209800" cy="4826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F52EC9-25C9-2C66-86CD-5349032A1153}"/>
              </a:ext>
            </a:extLst>
          </p:cNvPr>
          <p:cNvSpPr txBox="1"/>
          <p:nvPr/>
        </p:nvSpPr>
        <p:spPr>
          <a:xfrm>
            <a:off x="6451600" y="2019300"/>
            <a:ext cx="1854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41710"/>
                </a:solidFill>
                <a:latin typeface="Aptos" panose="020B0004020202020204" pitchFamily="34" charset="0"/>
              </a:rPr>
              <a:t>CAR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099B3D-DF78-0715-398F-2F9582A29E05}"/>
              </a:ext>
            </a:extLst>
          </p:cNvPr>
          <p:cNvSpPr txBox="1"/>
          <p:nvPr/>
        </p:nvSpPr>
        <p:spPr>
          <a:xfrm>
            <a:off x="6451600" y="2540000"/>
            <a:ext cx="1854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1C9B8"/>
                </a:solidFill>
                <a:latin typeface="Aptos" panose="020B0004020202020204" pitchFamily="34" charset="0"/>
              </a:rPr>
              <a:t>PK car_id
price · status · plate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8F8229A-EFCC-7AF4-0395-D90D82954DBF}"/>
              </a:ext>
            </a:extLst>
          </p:cNvPr>
          <p:cNvSpPr/>
          <p:nvPr/>
        </p:nvSpPr>
        <p:spPr>
          <a:xfrm>
            <a:off x="8991600" y="1905000"/>
            <a:ext cx="2565400" cy="16764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E42FA7E-FAB7-D59F-6844-BC68D0D0F1D0}"/>
              </a:ext>
            </a:extLst>
          </p:cNvPr>
          <p:cNvSpPr/>
          <p:nvPr/>
        </p:nvSpPr>
        <p:spPr>
          <a:xfrm>
            <a:off x="8991600" y="1905000"/>
            <a:ext cx="2565400" cy="482600"/>
          </a:xfrm>
          <a:prstGeom prst="roundRect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EEE292-13B0-DCDF-6F51-B48940C5365D}"/>
              </a:ext>
            </a:extLst>
          </p:cNvPr>
          <p:cNvSpPr txBox="1"/>
          <p:nvPr/>
        </p:nvSpPr>
        <p:spPr>
          <a:xfrm>
            <a:off x="9169400" y="2019300"/>
            <a:ext cx="2209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41710"/>
                </a:solidFill>
                <a:latin typeface="Aptos" panose="020B0004020202020204" pitchFamily="34" charset="0"/>
              </a:rPr>
              <a:t>CONTRACT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D1DC78-83F1-4429-6B25-73E7B32C82FC}"/>
              </a:ext>
            </a:extLst>
          </p:cNvPr>
          <p:cNvSpPr txBox="1"/>
          <p:nvPr/>
        </p:nvSpPr>
        <p:spPr>
          <a:xfrm>
            <a:off x="9169400" y="2540000"/>
            <a:ext cx="22098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1C9B8"/>
                </a:solidFill>
                <a:latin typeface="Aptos" panose="020B0004020202020204" pitchFamily="34" charset="0"/>
              </a:rPr>
              <a:t>PK contract_id
FK request_id (unique)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79877E-9C09-2102-D33F-4009B2AEDA13}"/>
              </a:ext>
            </a:extLst>
          </p:cNvPr>
          <p:cNvCxnSpPr/>
          <p:nvPr/>
        </p:nvCxnSpPr>
        <p:spPr>
          <a:xfrm>
            <a:off x="2844800" y="2743200"/>
            <a:ext cx="508000" cy="0"/>
          </a:xfrm>
          <a:prstGeom prst="line">
            <a:avLst/>
          </a:prstGeom>
          <a:ln w="381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069B749-951A-9D13-E90F-C609BA2D7386}"/>
              </a:ext>
            </a:extLst>
          </p:cNvPr>
          <p:cNvCxnSpPr/>
          <p:nvPr/>
        </p:nvCxnSpPr>
        <p:spPr>
          <a:xfrm>
            <a:off x="5765800" y="2743200"/>
            <a:ext cx="508000" cy="0"/>
          </a:xfrm>
          <a:prstGeom prst="line">
            <a:avLst/>
          </a:prstGeom>
          <a:ln w="381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99EAD40-A3A6-7A5A-708F-45AE7D4FDC6E}"/>
              </a:ext>
            </a:extLst>
          </p:cNvPr>
          <p:cNvCxnSpPr/>
          <p:nvPr/>
        </p:nvCxnSpPr>
        <p:spPr>
          <a:xfrm>
            <a:off x="8483600" y="2743200"/>
            <a:ext cx="508000" cy="0"/>
          </a:xfrm>
          <a:prstGeom prst="line">
            <a:avLst/>
          </a:prstGeom>
          <a:ln w="38100">
            <a:solidFill>
              <a:srgbClr val="00E69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4D8D66-40D2-1F23-5C7C-8706A9A6849A}"/>
              </a:ext>
            </a:extLst>
          </p:cNvPr>
          <p:cNvSpPr/>
          <p:nvPr/>
        </p:nvSpPr>
        <p:spPr>
          <a:xfrm>
            <a:off x="3352800" y="4318000"/>
            <a:ext cx="2413000" cy="16764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9073ED9-8CAF-CEFF-7C1E-D719EE65A78C}"/>
              </a:ext>
            </a:extLst>
          </p:cNvPr>
          <p:cNvSpPr/>
          <p:nvPr/>
        </p:nvSpPr>
        <p:spPr>
          <a:xfrm>
            <a:off x="3352800" y="4318000"/>
            <a:ext cx="2413000" cy="482600"/>
          </a:xfrm>
          <a:prstGeom prst="roundRect">
            <a:avLst/>
          </a:prstGeom>
          <a:solidFill>
            <a:srgbClr val="4FB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13BF14-6B39-B6A4-B1CF-7BC17C0B6C2C}"/>
              </a:ext>
            </a:extLst>
          </p:cNvPr>
          <p:cNvSpPr txBox="1"/>
          <p:nvPr/>
        </p:nvSpPr>
        <p:spPr>
          <a:xfrm>
            <a:off x="3530600" y="4432300"/>
            <a:ext cx="2057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41710"/>
                </a:solidFill>
                <a:latin typeface="Aptos" panose="020B0004020202020204" pitchFamily="34" charset="0"/>
              </a:rPr>
              <a:t>PAYMENT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954BAC-9459-1B51-1EAF-7A345E8939C8}"/>
              </a:ext>
            </a:extLst>
          </p:cNvPr>
          <p:cNvSpPr txBox="1"/>
          <p:nvPr/>
        </p:nvSpPr>
        <p:spPr>
          <a:xfrm>
            <a:off x="3530600" y="4953000"/>
            <a:ext cx="20574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1C9B8"/>
                </a:solidFill>
                <a:latin typeface="Aptos" panose="020B0004020202020204" pitchFamily="34" charset="0"/>
              </a:rPr>
              <a:t>FK request_id
amount · type · status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5716468-B73E-170B-CE62-DA2638A6FD0A}"/>
              </a:ext>
            </a:extLst>
          </p:cNvPr>
          <p:cNvSpPr/>
          <p:nvPr/>
        </p:nvSpPr>
        <p:spPr>
          <a:xfrm>
            <a:off x="6273800" y="4318000"/>
            <a:ext cx="2209800" cy="1676400"/>
          </a:xfrm>
          <a:prstGeom prst="roundRect">
            <a:avLst/>
          </a:prstGeom>
          <a:solidFill>
            <a:srgbClr val="384629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A8F573A-01F2-0773-E5DB-D4B7837D2C28}"/>
              </a:ext>
            </a:extLst>
          </p:cNvPr>
          <p:cNvSpPr/>
          <p:nvPr/>
        </p:nvSpPr>
        <p:spPr>
          <a:xfrm>
            <a:off x="6273800" y="4318000"/>
            <a:ext cx="2209800" cy="482600"/>
          </a:xfrm>
          <a:prstGeom prst="roundRect">
            <a:avLst/>
          </a:prstGeom>
          <a:solidFill>
            <a:srgbClr val="4FB0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5C0E60-B924-B60D-CF48-4D5C57874D63}"/>
              </a:ext>
            </a:extLst>
          </p:cNvPr>
          <p:cNvSpPr txBox="1"/>
          <p:nvPr/>
        </p:nvSpPr>
        <p:spPr>
          <a:xfrm>
            <a:off x="6451600" y="4432300"/>
            <a:ext cx="18542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141710"/>
                </a:solidFill>
                <a:latin typeface="Aptos" panose="020B0004020202020204" pitchFamily="34" charset="0"/>
              </a:rPr>
              <a:t>SUPPORT CHAT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E683D3D-1437-DC26-DE0E-1AE72160375C}"/>
              </a:ext>
            </a:extLst>
          </p:cNvPr>
          <p:cNvSpPr txBox="1"/>
          <p:nvPr/>
        </p:nvSpPr>
        <p:spPr>
          <a:xfrm>
            <a:off x="6451600" y="4953000"/>
            <a:ext cx="18542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500">
                <a:solidFill>
                  <a:srgbClr val="C1C9B8"/>
                </a:solidFill>
                <a:latin typeface="Aptos" panose="020B0004020202020204" pitchFamily="34" charset="0"/>
              </a:rPr>
              <a:t>FK customer_id
message · sender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E48A3FB-BC6D-4155-FBF9-0590DDA92D21}"/>
              </a:ext>
            </a:extLst>
          </p:cNvPr>
          <p:cNvCxnSpPr/>
          <p:nvPr/>
        </p:nvCxnSpPr>
        <p:spPr>
          <a:xfrm>
            <a:off x="4559300" y="3581400"/>
            <a:ext cx="0" cy="736600"/>
          </a:xfrm>
          <a:prstGeom prst="line">
            <a:avLst/>
          </a:prstGeom>
          <a:ln w="38100">
            <a:solidFill>
              <a:srgbClr val="4FB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4891BDE-0B09-7668-7E2F-DE0CD20FE71F}"/>
              </a:ext>
            </a:extLst>
          </p:cNvPr>
          <p:cNvCxnSpPr/>
          <p:nvPr/>
        </p:nvCxnSpPr>
        <p:spPr>
          <a:xfrm>
            <a:off x="7378700" y="3581400"/>
            <a:ext cx="0" cy="736600"/>
          </a:xfrm>
          <a:prstGeom prst="line">
            <a:avLst/>
          </a:prstGeom>
          <a:ln w="38100">
            <a:solidFill>
              <a:srgbClr val="4FB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93AE2DE8-C358-97B2-09FB-C5E50F430160}"/>
              </a:ext>
            </a:extLst>
          </p:cNvPr>
          <p:cNvSpPr txBox="1"/>
          <p:nvPr/>
        </p:nvSpPr>
        <p:spPr>
          <a:xfrm>
            <a:off x="635000" y="4584700"/>
            <a:ext cx="2159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Quan hệ trung tâm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97EDBE7-1348-8B6E-E48D-41352977A9DC}"/>
              </a:ext>
            </a:extLst>
          </p:cNvPr>
          <p:cNvSpPr txBox="1"/>
          <p:nvPr/>
        </p:nvSpPr>
        <p:spPr>
          <a:xfrm>
            <a:off x="635000" y="4991100"/>
            <a:ext cx="2349500" cy="7848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Customer + Car → Request → Payment → Contract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0A1DCA-F3F9-83F5-AEAA-A4DF26840682}"/>
              </a:ext>
            </a:extLst>
          </p:cNvPr>
          <p:cNvSpPr txBox="1"/>
          <p:nvPr/>
        </p:nvSpPr>
        <p:spPr>
          <a:xfrm>
            <a:off x="584200" y="65151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09204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599764-FF25-5949-F684-13AAF10DE3F6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B431F6-BBE3-FD98-1944-D2EDC584732C}"/>
              </a:ext>
            </a:extLst>
          </p:cNvPr>
          <p:cNvSpPr txBox="1"/>
          <p:nvPr/>
        </p:nvSpPr>
        <p:spPr>
          <a:xfrm>
            <a:off x="673100" y="3937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TRIỂN KHAI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F40DD-0D37-854C-FEA1-5ABECC951D22}"/>
              </a:ext>
            </a:extLst>
          </p:cNvPr>
          <p:cNvSpPr txBox="1"/>
          <p:nvPr/>
        </p:nvSpPr>
        <p:spPr>
          <a:xfrm>
            <a:off x="584200" y="7874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Giao diện thực tế của hệ thống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C822E9-D593-C638-22FE-47850E5D89D4}"/>
              </a:ext>
            </a:extLst>
          </p:cNvPr>
          <p:cNvSpPr txBox="1"/>
          <p:nvPr/>
        </p:nvSpPr>
        <p:spPr>
          <a:xfrm>
            <a:off x="11341100" y="406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200" b="1">
                <a:solidFill>
                  <a:srgbClr val="C1C9B8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A3E53A1-5D91-573B-B457-786B3FB8AC1F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E4E08C-F760-EA97-418B-5885C63ECDF2}"/>
              </a:ext>
            </a:extLst>
          </p:cNvPr>
          <p:cNvSpPr/>
          <p:nvPr/>
        </p:nvSpPr>
        <p:spPr>
          <a:xfrm>
            <a:off x="609600" y="1816100"/>
            <a:ext cx="5257800" cy="38100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AFC677-2586-3062-C65C-399C73EA366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68500"/>
            <a:ext cx="4953000" cy="3098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94361C-56A0-939A-312D-271C0B736688}"/>
              </a:ext>
            </a:extLst>
          </p:cNvPr>
          <p:cNvSpPr txBox="1"/>
          <p:nvPr/>
        </p:nvSpPr>
        <p:spPr>
          <a:xfrm>
            <a:off x="914400" y="5219700"/>
            <a:ext cx="304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0E698"/>
                </a:solidFill>
                <a:latin typeface="Aptos" panose="020B0004020202020204" pitchFamily="34" charset="0"/>
              </a:rPr>
              <a:t>01  TRANG CHỦ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41DF5B7-82A3-78D1-2016-A9846D088EA4}"/>
              </a:ext>
            </a:extLst>
          </p:cNvPr>
          <p:cNvSpPr/>
          <p:nvPr/>
        </p:nvSpPr>
        <p:spPr>
          <a:xfrm>
            <a:off x="6324600" y="1816100"/>
            <a:ext cx="5257800" cy="38100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56D44F-4618-F961-0366-F12AECE52AE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968500"/>
            <a:ext cx="4953000" cy="30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2573B9F-3317-1495-35C4-E641E1BFC1FE}"/>
              </a:ext>
            </a:extLst>
          </p:cNvPr>
          <p:cNvSpPr txBox="1"/>
          <p:nvPr/>
        </p:nvSpPr>
        <p:spPr>
          <a:xfrm>
            <a:off x="6629400" y="5219700"/>
            <a:ext cx="393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00E698"/>
                </a:solidFill>
                <a:latin typeface="Aptos" panose="020B0004020202020204" pitchFamily="34" charset="0"/>
              </a:rPr>
              <a:t>02  DANH MỤC &amp; BỘ LỌC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2B21F5-3F21-2870-4198-C127C1D8F330}"/>
              </a:ext>
            </a:extLst>
          </p:cNvPr>
          <p:cNvSpPr txBox="1"/>
          <p:nvPr/>
        </p:nvSpPr>
        <p:spPr>
          <a:xfrm>
            <a:off x="914400" y="5943600"/>
            <a:ext cx="1905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Responsive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F81520-CB17-2B13-CAAC-07832EAE9233}"/>
              </a:ext>
            </a:extLst>
          </p:cNvPr>
          <p:cNvSpPr txBox="1"/>
          <p:nvPr/>
        </p:nvSpPr>
        <p:spPr>
          <a:xfrm>
            <a:off x="4622800" y="59436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Tìm kiếm đa tiêu chí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12549-5EBA-D429-A306-6F048554BD62}"/>
              </a:ext>
            </a:extLst>
          </p:cNvPr>
          <p:cNvSpPr txBox="1"/>
          <p:nvPr/>
        </p:nvSpPr>
        <p:spPr>
          <a:xfrm>
            <a:off x="8661400" y="5943600"/>
            <a:ext cx="292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ptos" panose="020B0004020202020204" pitchFamily="34" charset="0"/>
              </a:rPr>
              <a:t>Giá và trạng thái rõ ràng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00F2AA-1474-13D3-3596-EFB87427FFD9}"/>
              </a:ext>
            </a:extLst>
          </p:cNvPr>
          <p:cNvSpPr txBox="1"/>
          <p:nvPr/>
        </p:nvSpPr>
        <p:spPr>
          <a:xfrm>
            <a:off x="584200" y="65151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969968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790B16C-9B8C-2C15-FD73-F69B3B0B28A9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B07846-48FB-9FAF-6642-9FB9C0ECBD39}"/>
              </a:ext>
            </a:extLst>
          </p:cNvPr>
          <p:cNvSpPr txBox="1"/>
          <p:nvPr/>
        </p:nvSpPr>
        <p:spPr>
          <a:xfrm>
            <a:off x="673100" y="3937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THUẬT TOÁN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63EC11-A061-9A76-569B-A72D105DB2BF}"/>
              </a:ext>
            </a:extLst>
          </p:cNvPr>
          <p:cNvSpPr txBox="1"/>
          <p:nvPr/>
        </p:nvSpPr>
        <p:spPr>
          <a:xfrm>
            <a:off x="584200" y="7874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Điểm nổi bật: chống trùng lịch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6D2542-AEE4-6079-D5EC-CCB44F7F70CC}"/>
              </a:ext>
            </a:extLst>
          </p:cNvPr>
          <p:cNvSpPr txBox="1"/>
          <p:nvPr/>
        </p:nvSpPr>
        <p:spPr>
          <a:xfrm>
            <a:off x="11341100" y="406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200" b="1">
                <a:solidFill>
                  <a:srgbClr val="C1C9B8"/>
                </a:solidFill>
                <a:latin typeface="Aptos" panose="020B0004020202020204" pitchFamily="34" charset="0"/>
              </a:rPr>
              <a:t>07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FA6CCFC-5EB5-CB6F-0EEC-56B08FFC124A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A6C0E16-5E77-5E3B-B053-B26C538837B5}"/>
              </a:ext>
            </a:extLst>
          </p:cNvPr>
          <p:cNvSpPr/>
          <p:nvPr/>
        </p:nvSpPr>
        <p:spPr>
          <a:xfrm>
            <a:off x="635000" y="1841500"/>
            <a:ext cx="6527800" cy="40894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88496-B5B3-DC6A-7F38-6B2DAD6AB665}"/>
              </a:ext>
            </a:extLst>
          </p:cNvPr>
          <p:cNvSpPr txBox="1"/>
          <p:nvPr/>
        </p:nvSpPr>
        <p:spPr>
          <a:xfrm>
            <a:off x="965200" y="2171700"/>
            <a:ext cx="457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ĐIỀU KIỆN GIAO NHAU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80D71C3-642E-9BAA-756B-1007C4432FD6}"/>
              </a:ext>
            </a:extLst>
          </p:cNvPr>
          <p:cNvSpPr/>
          <p:nvPr/>
        </p:nvSpPr>
        <p:spPr>
          <a:xfrm>
            <a:off x="965200" y="2743200"/>
            <a:ext cx="5867400" cy="1168400"/>
          </a:xfrm>
          <a:prstGeom prst="roundRect">
            <a:avLst/>
          </a:prstGeom>
          <a:solidFill>
            <a:srgbClr val="242D1D"/>
          </a:solidFill>
          <a:ln>
            <a:solidFill>
              <a:srgbClr val="4754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BB4EEF-B1B0-C235-445C-139C99A2E7B8}"/>
              </a:ext>
            </a:extLst>
          </p:cNvPr>
          <p:cNvSpPr txBox="1"/>
          <p:nvPr/>
        </p:nvSpPr>
        <p:spPr>
          <a:xfrm>
            <a:off x="1143000" y="2984500"/>
            <a:ext cx="55118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400" b="1">
                <a:solidFill>
                  <a:srgbClr val="FFFFFF"/>
                </a:solidFill>
                <a:latin typeface="Consolas" panose="020B0609020204030204" pitchFamily="49" charset="0"/>
              </a:rPr>
              <a:t>start_cũ ≤ end_mới
AND  end_cũ ≥ start_mới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B249466-AF69-B250-C6D0-FC8BB8836A7C}"/>
              </a:ext>
            </a:extLst>
          </p:cNvPr>
          <p:cNvSpPr/>
          <p:nvPr/>
        </p:nvSpPr>
        <p:spPr>
          <a:xfrm>
            <a:off x="965200" y="4267200"/>
            <a:ext cx="330200" cy="3302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1FA2D5-BCA6-695A-6757-511D5E3599EE}"/>
              </a:ext>
            </a:extLst>
          </p:cNvPr>
          <p:cNvSpPr txBox="1"/>
          <p:nvPr/>
        </p:nvSpPr>
        <p:spPr>
          <a:xfrm>
            <a:off x="1035050" y="4336420"/>
            <a:ext cx="20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1A9734-2A5F-EBBF-8197-6FA2C3543F16}"/>
              </a:ext>
            </a:extLst>
          </p:cNvPr>
          <p:cNvSpPr txBox="1"/>
          <p:nvPr/>
        </p:nvSpPr>
        <p:spPr>
          <a:xfrm>
            <a:off x="1435100" y="4254500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Ngày thuê hợp lệ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5307BC-80B6-ECB0-249B-E0A399EDA259}"/>
              </a:ext>
            </a:extLst>
          </p:cNvPr>
          <p:cNvSpPr/>
          <p:nvPr/>
        </p:nvSpPr>
        <p:spPr>
          <a:xfrm>
            <a:off x="3835400" y="4267200"/>
            <a:ext cx="330200" cy="3302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8D2BC6-D190-C8CA-138B-F2201ED8E3D7}"/>
              </a:ext>
            </a:extLst>
          </p:cNvPr>
          <p:cNvSpPr txBox="1"/>
          <p:nvPr/>
        </p:nvSpPr>
        <p:spPr>
          <a:xfrm>
            <a:off x="3898900" y="4336420"/>
            <a:ext cx="20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D72D52-7B01-F327-DB35-A9BEB438B2A9}"/>
              </a:ext>
            </a:extLst>
          </p:cNvPr>
          <p:cNvSpPr txBox="1"/>
          <p:nvPr/>
        </p:nvSpPr>
        <p:spPr>
          <a:xfrm>
            <a:off x="4305300" y="4305643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</a:rPr>
              <a:t>Xe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</a:rPr>
              <a:t>đang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</a:rPr>
              <a:t>khả</a:t>
            </a:r>
            <a:r>
              <a:rPr lang="en-US" sz="1600" b="1" dirty="0">
                <a:solidFill>
                  <a:srgbClr val="FFFFFF"/>
                </a:solidFill>
                <a:latin typeface="Aptos" panose="020B0004020202020204" pitchFamily="34" charset="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Aptos" panose="020B0004020202020204" pitchFamily="34" charset="0"/>
              </a:rPr>
              <a:t>dụng</a:t>
            </a:r>
            <a:endParaRPr lang="en-US" sz="1600" b="1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97626A4-3EB8-6438-A14D-D7F8C05FC24D}"/>
              </a:ext>
            </a:extLst>
          </p:cNvPr>
          <p:cNvSpPr/>
          <p:nvPr/>
        </p:nvSpPr>
        <p:spPr>
          <a:xfrm>
            <a:off x="965200" y="5003800"/>
            <a:ext cx="330200" cy="3302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E65099-9C25-BF39-E538-371CBF3DA14F}"/>
              </a:ext>
            </a:extLst>
          </p:cNvPr>
          <p:cNvSpPr txBox="1"/>
          <p:nvPr/>
        </p:nvSpPr>
        <p:spPr>
          <a:xfrm>
            <a:off x="1035050" y="5077942"/>
            <a:ext cx="20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4A9945-8359-AE9C-6507-B9258E675D58}"/>
              </a:ext>
            </a:extLst>
          </p:cNvPr>
          <p:cNvSpPr txBox="1"/>
          <p:nvPr/>
        </p:nvSpPr>
        <p:spPr>
          <a:xfrm>
            <a:off x="1435100" y="4991100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Không trùng lịch xe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5371C73-041E-084A-C24F-CFA843D8122B}"/>
              </a:ext>
            </a:extLst>
          </p:cNvPr>
          <p:cNvSpPr/>
          <p:nvPr/>
        </p:nvSpPr>
        <p:spPr>
          <a:xfrm>
            <a:off x="3835400" y="5003800"/>
            <a:ext cx="330200" cy="3302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915BA2-7E7B-F3D5-9E50-729C170ECBB8}"/>
              </a:ext>
            </a:extLst>
          </p:cNvPr>
          <p:cNvSpPr txBox="1"/>
          <p:nvPr/>
        </p:nvSpPr>
        <p:spPr>
          <a:xfrm>
            <a:off x="3903133" y="5074166"/>
            <a:ext cx="2032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200" b="1" dirty="0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3356E3-534D-F1E6-D042-0ED770AF6F2F}"/>
              </a:ext>
            </a:extLst>
          </p:cNvPr>
          <p:cNvSpPr txBox="1"/>
          <p:nvPr/>
        </p:nvSpPr>
        <p:spPr>
          <a:xfrm>
            <a:off x="4305300" y="4991100"/>
            <a:ext cx="2209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</a:rPr>
              <a:t>Không trùng lịch khách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B76D597-4D82-3967-ACF7-FF08121297B6}"/>
              </a:ext>
            </a:extLst>
          </p:cNvPr>
          <p:cNvSpPr/>
          <p:nvPr/>
        </p:nvSpPr>
        <p:spPr>
          <a:xfrm>
            <a:off x="7594600" y="1841500"/>
            <a:ext cx="3987800" cy="4089400"/>
          </a:xfrm>
          <a:prstGeom prst="roundRect">
            <a:avLst/>
          </a:prstGeom>
          <a:solidFill>
            <a:srgbClr val="242D1D"/>
          </a:solidFill>
          <a:ln>
            <a:solidFill>
              <a:srgbClr val="00E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B09B28-F7F8-C480-D409-A04B5079C880}"/>
              </a:ext>
            </a:extLst>
          </p:cNvPr>
          <p:cNvSpPr txBox="1"/>
          <p:nvPr/>
        </p:nvSpPr>
        <p:spPr>
          <a:xfrm>
            <a:off x="7924800" y="2171700"/>
            <a:ext cx="2794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TÍNH TIỀN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956BE2-816D-A2AD-C7AF-980884EF13C8}"/>
              </a:ext>
            </a:extLst>
          </p:cNvPr>
          <p:cNvSpPr txBox="1"/>
          <p:nvPr/>
        </p:nvSpPr>
        <p:spPr>
          <a:xfrm>
            <a:off x="7924800" y="28067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C1C9B8"/>
                </a:solidFill>
                <a:latin typeface="Aptos" panose="020B0004020202020204" pitchFamily="34" charset="0"/>
              </a:rPr>
              <a:t>Tổng tiền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981227-5940-64A1-047E-CC6868E9528E}"/>
              </a:ext>
            </a:extLst>
          </p:cNvPr>
          <p:cNvSpPr txBox="1"/>
          <p:nvPr/>
        </p:nvSpPr>
        <p:spPr>
          <a:xfrm>
            <a:off x="7924800" y="3175000"/>
            <a:ext cx="3175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ptos" panose="020B0004020202020204" pitchFamily="34" charset="0"/>
              </a:rPr>
              <a:t>Phí thuê + VAT 8%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E74F8B7-5E21-B10B-D244-4DC935854B60}"/>
              </a:ext>
            </a:extLst>
          </p:cNvPr>
          <p:cNvCxnSpPr/>
          <p:nvPr/>
        </p:nvCxnSpPr>
        <p:spPr>
          <a:xfrm>
            <a:off x="7924800" y="3733800"/>
            <a:ext cx="32258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E3C68D8-2B07-1C63-199D-15A12492839C}"/>
              </a:ext>
            </a:extLst>
          </p:cNvPr>
          <p:cNvSpPr txBox="1"/>
          <p:nvPr/>
        </p:nvSpPr>
        <p:spPr>
          <a:xfrm>
            <a:off x="7924800" y="4013200"/>
            <a:ext cx="152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600" b="1">
                <a:solidFill>
                  <a:srgbClr val="C1C9B8"/>
                </a:solidFill>
                <a:latin typeface="Aptos" panose="020B0004020202020204" pitchFamily="34" charset="0"/>
              </a:rPr>
              <a:t>Giữ chỗ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15514AE-6DDD-F2BC-C8CF-A61CA2E5D02C}"/>
              </a:ext>
            </a:extLst>
          </p:cNvPr>
          <p:cNvSpPr txBox="1"/>
          <p:nvPr/>
        </p:nvSpPr>
        <p:spPr>
          <a:xfrm>
            <a:off x="7924800" y="4394200"/>
            <a:ext cx="3175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00E698"/>
                </a:solidFill>
                <a:latin typeface="Aptos" panose="020B0004020202020204" pitchFamily="34" charset="0"/>
              </a:rPr>
              <a:t>20% tổng tiền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932465-8512-D087-5879-A7F86A804BC7}"/>
              </a:ext>
            </a:extLst>
          </p:cNvPr>
          <p:cNvSpPr txBox="1"/>
          <p:nvPr/>
        </p:nvSpPr>
        <p:spPr>
          <a:xfrm>
            <a:off x="7924800" y="4889500"/>
            <a:ext cx="317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Tối thiểu 300.000đ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BD1F9C-FCA6-6539-E584-34A055FEF866}"/>
              </a:ext>
            </a:extLst>
          </p:cNvPr>
          <p:cNvSpPr txBox="1"/>
          <p:nvPr/>
        </p:nvSpPr>
        <p:spPr>
          <a:xfrm>
            <a:off x="7924800" y="5461000"/>
            <a:ext cx="3302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C1C9B8"/>
                </a:solidFill>
                <a:latin typeface="Aptos" panose="020B0004020202020204" pitchFamily="34" charset="0"/>
              </a:rPr>
              <a:t>→ Giảm rủi ro double-booking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EA5ADC4-B5A7-6926-356D-49FAA43E25AB}"/>
              </a:ext>
            </a:extLst>
          </p:cNvPr>
          <p:cNvSpPr txBox="1"/>
          <p:nvPr/>
        </p:nvSpPr>
        <p:spPr>
          <a:xfrm>
            <a:off x="584200" y="65151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219736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2F76DFD-BA5C-1C33-BE6B-FB411C98723E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2FA929-DBDD-1F63-25C1-42133E172898}"/>
              </a:ext>
            </a:extLst>
          </p:cNvPr>
          <p:cNvSpPr txBox="1"/>
          <p:nvPr/>
        </p:nvSpPr>
        <p:spPr>
          <a:xfrm>
            <a:off x="673100" y="3937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KẾT QUẢ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D3AA64-C28F-D1EE-0AF8-090B81DDB296}"/>
              </a:ext>
            </a:extLst>
          </p:cNvPr>
          <p:cNvSpPr txBox="1"/>
          <p:nvPr/>
        </p:nvSpPr>
        <p:spPr>
          <a:xfrm>
            <a:off x="584200" y="7874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Kiểm thử và mức độ hoàn thiện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D723B-6509-EFD2-2674-B828BCF8AB24}"/>
              </a:ext>
            </a:extLst>
          </p:cNvPr>
          <p:cNvSpPr txBox="1"/>
          <p:nvPr/>
        </p:nvSpPr>
        <p:spPr>
          <a:xfrm>
            <a:off x="11341100" y="406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200" b="1">
                <a:solidFill>
                  <a:srgbClr val="C1C9B8"/>
                </a:solidFill>
                <a:latin typeface="Aptos" panose="020B0004020202020204" pitchFamily="34" charset="0"/>
              </a:rPr>
              <a:t>08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8910614-A4E6-00E0-21EB-FD19808859C2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5CD5809-6774-32F6-F50A-C06BDDDD7299}"/>
              </a:ext>
            </a:extLst>
          </p:cNvPr>
          <p:cNvSpPr/>
          <p:nvPr/>
        </p:nvSpPr>
        <p:spPr>
          <a:xfrm>
            <a:off x="889000" y="1993900"/>
            <a:ext cx="3302000" cy="33020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C5A224-BC50-334D-9C81-451230AB6677}"/>
              </a:ext>
            </a:extLst>
          </p:cNvPr>
          <p:cNvSpPr txBox="1"/>
          <p:nvPr/>
        </p:nvSpPr>
        <p:spPr>
          <a:xfrm>
            <a:off x="1346200" y="2743200"/>
            <a:ext cx="23876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4800" b="1">
                <a:solidFill>
                  <a:srgbClr val="141710"/>
                </a:solidFill>
                <a:latin typeface="Aptos" panose="020B0004020202020204" pitchFamily="34" charset="0"/>
              </a:rPr>
              <a:t>7/7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9211BA-328B-1675-7D93-C70620A62A87}"/>
              </a:ext>
            </a:extLst>
          </p:cNvPr>
          <p:cNvSpPr txBox="1"/>
          <p:nvPr/>
        </p:nvSpPr>
        <p:spPr>
          <a:xfrm>
            <a:off x="1346200" y="3683000"/>
            <a:ext cx="23876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900" b="1">
                <a:solidFill>
                  <a:srgbClr val="141710"/>
                </a:solidFill>
                <a:latin typeface="Aptos" panose="020B0004020202020204" pitchFamily="34" charset="0"/>
              </a:rPr>
              <a:t>KIỂM THỬ LOGIC
ĐẠT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45AD7-D389-764E-761C-255EFA94F7E4}"/>
              </a:ext>
            </a:extLst>
          </p:cNvPr>
          <p:cNvSpPr txBox="1"/>
          <p:nvPr/>
        </p:nvSpPr>
        <p:spPr>
          <a:xfrm>
            <a:off x="4826000" y="1993900"/>
            <a:ext cx="292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Frontend build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BB7A97-B87D-63D7-4AF6-CF559CFCFB02}"/>
              </a:ext>
            </a:extLst>
          </p:cNvPr>
          <p:cNvSpPr txBox="1"/>
          <p:nvPr/>
        </p:nvSpPr>
        <p:spPr>
          <a:xfrm>
            <a:off x="4826000" y="2387600"/>
            <a:ext cx="5461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ptos" panose="020B0004020202020204" pitchFamily="34" charset="0"/>
              </a:rPr>
              <a:t>82 module  ·  0.825 giây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062E5F0-7A35-2972-F698-92C8FE0A8E6E}"/>
              </a:ext>
            </a:extLst>
          </p:cNvPr>
          <p:cNvCxnSpPr/>
          <p:nvPr/>
        </p:nvCxnSpPr>
        <p:spPr>
          <a:xfrm>
            <a:off x="4826000" y="2946400"/>
            <a:ext cx="64770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7BC0485-1E1C-DA35-5B77-E5C89D903595}"/>
              </a:ext>
            </a:extLst>
          </p:cNvPr>
          <p:cNvSpPr/>
          <p:nvPr/>
        </p:nvSpPr>
        <p:spPr>
          <a:xfrm>
            <a:off x="4826000" y="3263900"/>
            <a:ext cx="6477000" cy="609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F051A6-6605-755A-A92E-7BFB9D3FBCA8}"/>
              </a:ext>
            </a:extLst>
          </p:cNvPr>
          <p:cNvSpPr txBox="1"/>
          <p:nvPr/>
        </p:nvSpPr>
        <p:spPr>
          <a:xfrm>
            <a:off x="5054600" y="3416300"/>
            <a:ext cx="55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028075-14A3-CC56-AB5E-1A55057A4D4C}"/>
              </a:ext>
            </a:extLst>
          </p:cNvPr>
          <p:cNvSpPr txBox="1"/>
          <p:nvPr/>
        </p:nvSpPr>
        <p:spPr>
          <a:xfrm>
            <a:off x="5791200" y="34036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Trùng lịch xe và khách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A382318-3F1B-F84E-F45F-7D7CC106D0EF}"/>
              </a:ext>
            </a:extLst>
          </p:cNvPr>
          <p:cNvSpPr/>
          <p:nvPr/>
        </p:nvSpPr>
        <p:spPr>
          <a:xfrm>
            <a:off x="10287000" y="3416300"/>
            <a:ext cx="8128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72097A-8FBE-8392-F1EC-80C16941633E}"/>
              </a:ext>
            </a:extLst>
          </p:cNvPr>
          <p:cNvSpPr txBox="1"/>
          <p:nvPr/>
        </p:nvSpPr>
        <p:spPr>
          <a:xfrm>
            <a:off x="10375900" y="3454400"/>
            <a:ext cx="63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7399416-4E95-9AC7-E6E6-09A39698E410}"/>
              </a:ext>
            </a:extLst>
          </p:cNvPr>
          <p:cNvSpPr/>
          <p:nvPr/>
        </p:nvSpPr>
        <p:spPr>
          <a:xfrm>
            <a:off x="4826000" y="3975100"/>
            <a:ext cx="6477000" cy="609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36A5F4-18FC-547A-50D8-6946616AB25E}"/>
              </a:ext>
            </a:extLst>
          </p:cNvPr>
          <p:cNvSpPr txBox="1"/>
          <p:nvPr/>
        </p:nvSpPr>
        <p:spPr>
          <a:xfrm>
            <a:off x="5054600" y="4127500"/>
            <a:ext cx="55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74D795-C7F2-4C4D-619C-A5A46EEECDDB}"/>
              </a:ext>
            </a:extLst>
          </p:cNvPr>
          <p:cNvSpPr txBox="1"/>
          <p:nvPr/>
        </p:nvSpPr>
        <p:spPr>
          <a:xfrm>
            <a:off x="5791200" y="41148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Tiền giữ chỗ tối thiểu / 20%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314AA07-6444-C14F-6E67-3BAFECD8FC62}"/>
              </a:ext>
            </a:extLst>
          </p:cNvPr>
          <p:cNvSpPr/>
          <p:nvPr/>
        </p:nvSpPr>
        <p:spPr>
          <a:xfrm>
            <a:off x="10287000" y="4127500"/>
            <a:ext cx="8128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F6C000-85FE-89CB-73BD-C5B782873B5D}"/>
              </a:ext>
            </a:extLst>
          </p:cNvPr>
          <p:cNvSpPr txBox="1"/>
          <p:nvPr/>
        </p:nvSpPr>
        <p:spPr>
          <a:xfrm>
            <a:off x="10375900" y="4165600"/>
            <a:ext cx="63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21ED33A-2B2C-D2F4-D99B-3913B22FB48C}"/>
              </a:ext>
            </a:extLst>
          </p:cNvPr>
          <p:cNvSpPr/>
          <p:nvPr/>
        </p:nvSpPr>
        <p:spPr>
          <a:xfrm>
            <a:off x="4826000" y="4686300"/>
            <a:ext cx="6477000" cy="609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AC0B6A-B5AD-F9E1-8BBF-C980AD954521}"/>
              </a:ext>
            </a:extLst>
          </p:cNvPr>
          <p:cNvSpPr txBox="1"/>
          <p:nvPr/>
        </p:nvSpPr>
        <p:spPr>
          <a:xfrm>
            <a:off x="5054600" y="4838700"/>
            <a:ext cx="55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992B29-4A4B-9203-0197-B28876868A8C}"/>
              </a:ext>
            </a:extLst>
          </p:cNvPr>
          <p:cNvSpPr txBox="1"/>
          <p:nvPr/>
        </p:nvSpPr>
        <p:spPr>
          <a:xfrm>
            <a:off x="5791200" y="48260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Hash và xác minh mật khẩu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FD7AD35-12FC-298F-3798-07FD27754E0E}"/>
              </a:ext>
            </a:extLst>
          </p:cNvPr>
          <p:cNvSpPr/>
          <p:nvPr/>
        </p:nvSpPr>
        <p:spPr>
          <a:xfrm>
            <a:off x="10287000" y="4838700"/>
            <a:ext cx="8128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6EC476-81CC-E819-B60D-F92FF9DBCA44}"/>
              </a:ext>
            </a:extLst>
          </p:cNvPr>
          <p:cNvSpPr txBox="1"/>
          <p:nvPr/>
        </p:nvSpPr>
        <p:spPr>
          <a:xfrm>
            <a:off x="10375900" y="4876800"/>
            <a:ext cx="63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1BAB2165-D22D-938E-FAF2-5431ABA2A9AC}"/>
              </a:ext>
            </a:extLst>
          </p:cNvPr>
          <p:cNvSpPr/>
          <p:nvPr/>
        </p:nvSpPr>
        <p:spPr>
          <a:xfrm>
            <a:off x="4826000" y="5397500"/>
            <a:ext cx="6477000" cy="6096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9F7295-EC82-6131-4408-2AF7402A1CBD}"/>
              </a:ext>
            </a:extLst>
          </p:cNvPr>
          <p:cNvSpPr txBox="1"/>
          <p:nvPr/>
        </p:nvSpPr>
        <p:spPr>
          <a:xfrm>
            <a:off x="5054600" y="5549900"/>
            <a:ext cx="5588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700" b="1">
                <a:solidFill>
                  <a:srgbClr val="00E698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073D36-B93C-476C-2889-74216E2D6E0F}"/>
              </a:ext>
            </a:extLst>
          </p:cNvPr>
          <p:cNvSpPr txBox="1"/>
          <p:nvPr/>
        </p:nvSpPr>
        <p:spPr>
          <a:xfrm>
            <a:off x="5791200" y="5537200"/>
            <a:ext cx="431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Ký và xác minh token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3F7E4B3-6AA3-8AA3-A471-CF28788D8DE3}"/>
              </a:ext>
            </a:extLst>
          </p:cNvPr>
          <p:cNvSpPr/>
          <p:nvPr/>
        </p:nvSpPr>
        <p:spPr>
          <a:xfrm>
            <a:off x="10287000" y="5549900"/>
            <a:ext cx="8128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809C174-1373-AE03-22FE-B7D66D9D0F1E}"/>
              </a:ext>
            </a:extLst>
          </p:cNvPr>
          <p:cNvSpPr txBox="1"/>
          <p:nvPr/>
        </p:nvSpPr>
        <p:spPr>
          <a:xfrm>
            <a:off x="10375900" y="5588000"/>
            <a:ext cx="635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PASS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860A038-7CA9-F141-A6C9-2F3A3E8EC608}"/>
              </a:ext>
            </a:extLst>
          </p:cNvPr>
          <p:cNvSpPr txBox="1"/>
          <p:nvPr/>
        </p:nvSpPr>
        <p:spPr>
          <a:xfrm>
            <a:off x="889000" y="5778500"/>
            <a:ext cx="8001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700" b="1">
                <a:solidFill>
                  <a:srgbClr val="C1C9B8"/>
                </a:solidFill>
                <a:latin typeface="Aptos" panose="020B0004020202020204" pitchFamily="34" charset="0"/>
              </a:rPr>
              <a:t>Điểm cần tối ưu: bundle frontend khoảng 522 kB</a:t>
            </a:r>
            <a:endParaRPr lang="en-US" sz="1700" b="1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BE5ECDD-AAD1-5D98-6FC8-F798A169581F}"/>
              </a:ext>
            </a:extLst>
          </p:cNvPr>
          <p:cNvSpPr txBox="1"/>
          <p:nvPr/>
        </p:nvSpPr>
        <p:spPr>
          <a:xfrm>
            <a:off x="584200" y="65151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422325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336956-1A64-A3B7-DD37-1C1FFC283E05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B10FA-7A25-3EEA-5D59-00D4C3F120A1}"/>
              </a:ext>
            </a:extLst>
          </p:cNvPr>
          <p:cNvSpPr txBox="1"/>
          <p:nvPr/>
        </p:nvSpPr>
        <p:spPr>
          <a:xfrm>
            <a:off x="673100" y="3937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ĐÁNH GIÁ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0B378-80C8-96AD-4F71-4F302A9D5867}"/>
              </a:ext>
            </a:extLst>
          </p:cNvPr>
          <p:cNvSpPr txBox="1"/>
          <p:nvPr/>
        </p:nvSpPr>
        <p:spPr>
          <a:xfrm>
            <a:off x="584200" y="7874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3200" b="1">
                <a:solidFill>
                  <a:srgbClr val="FFFFFF"/>
                </a:solidFill>
                <a:latin typeface="Aptos" panose="020B0004020202020204" pitchFamily="34" charset="0"/>
              </a:rPr>
              <a:t>Ưu điểm và hạn chế</a:t>
            </a:r>
            <a:endParaRPr lang="en-US" sz="32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8527AA-DE38-37D4-009E-8A19DAFB2A50}"/>
              </a:ext>
            </a:extLst>
          </p:cNvPr>
          <p:cNvSpPr txBox="1"/>
          <p:nvPr/>
        </p:nvSpPr>
        <p:spPr>
          <a:xfrm>
            <a:off x="11341100" y="406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200" b="1">
                <a:solidFill>
                  <a:srgbClr val="C1C9B8"/>
                </a:solidFill>
                <a:latin typeface="Aptos" panose="020B0004020202020204" pitchFamily="34" charset="0"/>
              </a:rPr>
              <a:t>09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C9C1C20-36F3-320E-835F-753D49782DDF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1A9DD61-BC1B-DC46-8A24-5D38D376FDA8}"/>
              </a:ext>
            </a:extLst>
          </p:cNvPr>
          <p:cNvSpPr/>
          <p:nvPr/>
        </p:nvSpPr>
        <p:spPr>
          <a:xfrm>
            <a:off x="635000" y="1854200"/>
            <a:ext cx="5207000" cy="41910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46C19B-8302-2168-9F13-4A555F45F6D6}"/>
              </a:ext>
            </a:extLst>
          </p:cNvPr>
          <p:cNvSpPr txBox="1"/>
          <p:nvPr/>
        </p:nvSpPr>
        <p:spPr>
          <a:xfrm>
            <a:off x="965200" y="2171700"/>
            <a:ext cx="2286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sz="1900" b="1">
                <a:solidFill>
                  <a:srgbClr val="00E698"/>
                </a:solidFill>
                <a:latin typeface="Aptos" panose="020B0004020202020204" pitchFamily="34" charset="0"/>
              </a:rPr>
              <a:t>ƯU ĐIỂM</a:t>
            </a:r>
            <a:endParaRPr lang="en-US" sz="1900" b="1">
              <a:solidFill>
                <a:srgbClr val="00E698"/>
              </a:solidFill>
              <a:latin typeface="Aptos" panose="020B00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1EDA0B-BB99-1A6C-A105-C492046323B3}"/>
              </a:ext>
            </a:extLst>
          </p:cNvPr>
          <p:cNvSpPr/>
          <p:nvPr/>
        </p:nvSpPr>
        <p:spPr>
          <a:xfrm>
            <a:off x="965200" y="2832100"/>
            <a:ext cx="355600" cy="3556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DFBEE3-764A-83C5-D6FB-9302E1D5591B}"/>
              </a:ext>
            </a:extLst>
          </p:cNvPr>
          <p:cNvSpPr txBox="1"/>
          <p:nvPr/>
        </p:nvSpPr>
        <p:spPr>
          <a:xfrm>
            <a:off x="1041400" y="2882900"/>
            <a:ext cx="203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0BA4CB-946B-DBA2-2F4F-257166274972}"/>
              </a:ext>
            </a:extLst>
          </p:cNvPr>
          <p:cNvSpPr txBox="1"/>
          <p:nvPr/>
        </p:nvSpPr>
        <p:spPr>
          <a:xfrm>
            <a:off x="1549400" y="2819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Bao phủ đầy đủ quy trình thuê xe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F852E4-40EF-765D-5CC5-262512ECB1D3}"/>
              </a:ext>
            </a:extLst>
          </p:cNvPr>
          <p:cNvSpPr/>
          <p:nvPr/>
        </p:nvSpPr>
        <p:spPr>
          <a:xfrm>
            <a:off x="965200" y="3568700"/>
            <a:ext cx="355600" cy="3556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15B4CF-3703-1D1D-5FAC-FFDCD62743F3}"/>
              </a:ext>
            </a:extLst>
          </p:cNvPr>
          <p:cNvSpPr txBox="1"/>
          <p:nvPr/>
        </p:nvSpPr>
        <p:spPr>
          <a:xfrm>
            <a:off x="1041400" y="3619500"/>
            <a:ext cx="203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B94405-6453-3465-DF61-2B7B808BC415}"/>
              </a:ext>
            </a:extLst>
          </p:cNvPr>
          <p:cNvSpPr txBox="1"/>
          <p:nvPr/>
        </p:nvSpPr>
        <p:spPr>
          <a:xfrm>
            <a:off x="1549400" y="3556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Chống trùng lịch ở backend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7C73382-3E64-B1D9-1925-2F1354992675}"/>
              </a:ext>
            </a:extLst>
          </p:cNvPr>
          <p:cNvSpPr/>
          <p:nvPr/>
        </p:nvSpPr>
        <p:spPr>
          <a:xfrm>
            <a:off x="965200" y="4305300"/>
            <a:ext cx="355600" cy="3556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E1E841-21DA-E24A-FFD3-39EBACFB9277}"/>
              </a:ext>
            </a:extLst>
          </p:cNvPr>
          <p:cNvSpPr txBox="1"/>
          <p:nvPr/>
        </p:nvSpPr>
        <p:spPr>
          <a:xfrm>
            <a:off x="1041400" y="4356100"/>
            <a:ext cx="203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DE50C2-077C-2C6D-641C-961E4BE00BAF}"/>
              </a:ext>
            </a:extLst>
          </p:cNvPr>
          <p:cNvSpPr txBox="1"/>
          <p:nvPr/>
        </p:nvSpPr>
        <p:spPr>
          <a:xfrm>
            <a:off x="1549400" y="4292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Có phân quyền, báo cáo và chat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E1B9902-7752-9F6D-4A4A-726493D55D67}"/>
              </a:ext>
            </a:extLst>
          </p:cNvPr>
          <p:cNvSpPr/>
          <p:nvPr/>
        </p:nvSpPr>
        <p:spPr>
          <a:xfrm>
            <a:off x="965200" y="5041900"/>
            <a:ext cx="355600" cy="355600"/>
          </a:xfrm>
          <a:prstGeom prst="ellipse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A18AAE-5FA9-5EF3-6099-05CDAE9F8BED}"/>
              </a:ext>
            </a:extLst>
          </p:cNvPr>
          <p:cNvSpPr txBox="1"/>
          <p:nvPr/>
        </p:nvSpPr>
        <p:spPr>
          <a:xfrm>
            <a:off x="1041400" y="5092700"/>
            <a:ext cx="2032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✓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38F7CD7-86CA-AA9C-FDEC-0281E982C372}"/>
              </a:ext>
            </a:extLst>
          </p:cNvPr>
          <p:cNvSpPr txBox="1"/>
          <p:nvPr/>
        </p:nvSpPr>
        <p:spPr>
          <a:xfrm>
            <a:off x="1549400" y="5029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Giao diện trực quan, dễ sử dụng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EEEB8A-F2EB-FF17-B743-BCA2A40DDF6C}"/>
              </a:ext>
            </a:extLst>
          </p:cNvPr>
          <p:cNvSpPr/>
          <p:nvPr/>
        </p:nvSpPr>
        <p:spPr>
          <a:xfrm>
            <a:off x="6350000" y="1854200"/>
            <a:ext cx="5232400" cy="4191000"/>
          </a:xfrm>
          <a:prstGeom prst="roundRect">
            <a:avLst/>
          </a:prstGeom>
          <a:solidFill>
            <a:srgbClr val="242D1D"/>
          </a:solidFill>
          <a:ln>
            <a:solidFill>
              <a:srgbClr val="FFB2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A46617-60D0-C94C-09F7-A04AFDEED51D}"/>
              </a:ext>
            </a:extLst>
          </p:cNvPr>
          <p:cNvSpPr txBox="1"/>
          <p:nvPr/>
        </p:nvSpPr>
        <p:spPr>
          <a:xfrm>
            <a:off x="6680200" y="2171700"/>
            <a:ext cx="2286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B248"/>
                </a:solidFill>
                <a:latin typeface="Aptos" panose="020B0004020202020204" pitchFamily="34" charset="0"/>
              </a:rPr>
              <a:t>HẠN CHẾ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D02DEF2-BA04-A464-9315-163590E31D1B}"/>
              </a:ext>
            </a:extLst>
          </p:cNvPr>
          <p:cNvSpPr/>
          <p:nvPr/>
        </p:nvSpPr>
        <p:spPr>
          <a:xfrm>
            <a:off x="6680200" y="2832100"/>
            <a:ext cx="355600" cy="3556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DA40D-D770-F45F-070C-F050C060C043}"/>
              </a:ext>
            </a:extLst>
          </p:cNvPr>
          <p:cNvSpPr txBox="1"/>
          <p:nvPr/>
        </p:nvSpPr>
        <p:spPr>
          <a:xfrm>
            <a:off x="6781800" y="28829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971C3E-0844-12D6-9A9E-B2672A28E7DC}"/>
              </a:ext>
            </a:extLst>
          </p:cNvPr>
          <p:cNvSpPr txBox="1"/>
          <p:nvPr/>
        </p:nvSpPr>
        <p:spPr>
          <a:xfrm>
            <a:off x="7264400" y="28194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Thanh toán còn xác nhận thủ công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0CFE9BB-34F8-ABDD-2058-73059B06269B}"/>
              </a:ext>
            </a:extLst>
          </p:cNvPr>
          <p:cNvSpPr/>
          <p:nvPr/>
        </p:nvSpPr>
        <p:spPr>
          <a:xfrm>
            <a:off x="6680200" y="3568700"/>
            <a:ext cx="355600" cy="3556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7D5D60-2770-8B68-1FB0-518A725A50FF}"/>
              </a:ext>
            </a:extLst>
          </p:cNvPr>
          <p:cNvSpPr txBox="1"/>
          <p:nvPr/>
        </p:nvSpPr>
        <p:spPr>
          <a:xfrm>
            <a:off x="6781800" y="36195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781BF4-C7D3-7FC9-3AFE-4F21DD30442C}"/>
              </a:ext>
            </a:extLst>
          </p:cNvPr>
          <p:cNvSpPr txBox="1"/>
          <p:nvPr/>
        </p:nvSpPr>
        <p:spPr>
          <a:xfrm>
            <a:off x="7264400" y="35560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b="1">
                <a:solidFill>
                  <a:srgbClr val="FFFFFF"/>
                </a:solidFill>
                <a:latin typeface="Aptos" panose="020B0004020202020204" pitchFamily="34" charset="0"/>
              </a:rPr>
              <a:t>Thiếu kiểm thử API/UI tự động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A86414A-7EFE-B2AD-23A6-538A653F30CA}"/>
              </a:ext>
            </a:extLst>
          </p:cNvPr>
          <p:cNvSpPr/>
          <p:nvPr/>
        </p:nvSpPr>
        <p:spPr>
          <a:xfrm>
            <a:off x="6680200" y="4305300"/>
            <a:ext cx="355600" cy="3556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3427B5-7975-5263-FD6B-C9C3C55AD845}"/>
              </a:ext>
            </a:extLst>
          </p:cNvPr>
          <p:cNvSpPr txBox="1"/>
          <p:nvPr/>
        </p:nvSpPr>
        <p:spPr>
          <a:xfrm>
            <a:off x="6781800" y="43561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D9E978-E107-BD2A-FD13-908BA3F5F91E}"/>
              </a:ext>
            </a:extLst>
          </p:cNvPr>
          <p:cNvSpPr txBox="1"/>
          <p:nvPr/>
        </p:nvSpPr>
        <p:spPr>
          <a:xfrm>
            <a:off x="7264400" y="42926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b="1">
                <a:solidFill>
                  <a:srgbClr val="FFFFFF"/>
                </a:solidFill>
                <a:latin typeface="Aptos" panose="020B0004020202020204" pitchFamily="34" charset="0"/>
              </a:rPr>
              <a:t>Bundle frontend còn tương đối lớn</a:t>
            </a:r>
            <a:endParaRPr lang="en-US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5B150DC-B210-50E4-59F0-92C1C9E99C69}"/>
              </a:ext>
            </a:extLst>
          </p:cNvPr>
          <p:cNvSpPr/>
          <p:nvPr/>
        </p:nvSpPr>
        <p:spPr>
          <a:xfrm>
            <a:off x="6680200" y="5041900"/>
            <a:ext cx="355600" cy="355600"/>
          </a:xfrm>
          <a:prstGeom prst="ellipse">
            <a:avLst/>
          </a:prstGeom>
          <a:solidFill>
            <a:srgbClr val="FFB24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1D452C7-5356-1559-E32A-7A5228DAEA77}"/>
              </a:ext>
            </a:extLst>
          </p:cNvPr>
          <p:cNvSpPr txBox="1"/>
          <p:nvPr/>
        </p:nvSpPr>
        <p:spPr>
          <a:xfrm>
            <a:off x="6781800" y="5092700"/>
            <a:ext cx="152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1300" b="1">
                <a:solidFill>
                  <a:srgbClr val="141710"/>
                </a:solidFill>
                <a:latin typeface="Aptos" panose="020B0004020202020204" pitchFamily="34" charset="0"/>
              </a:rPr>
              <a:t>!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488DDF-C44A-F9BE-B5E2-C0F7017DB5BA}"/>
              </a:ext>
            </a:extLst>
          </p:cNvPr>
          <p:cNvSpPr txBox="1"/>
          <p:nvPr/>
        </p:nvSpPr>
        <p:spPr>
          <a:xfrm>
            <a:off x="7264400" y="5029200"/>
            <a:ext cx="381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vi-VN" b="1">
                <a:solidFill>
                  <a:srgbClr val="FFFFFF"/>
                </a:solidFill>
                <a:latin typeface="Aptos" panose="020B0004020202020204" pitchFamily="34" charset="0"/>
              </a:rPr>
              <a:t>Triển khai cloud chưa hoàn chỉnh</a:t>
            </a:r>
            <a:endParaRPr lang="en-US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E4AF88-086E-5C2E-D507-13549E071621}"/>
              </a:ext>
            </a:extLst>
          </p:cNvPr>
          <p:cNvSpPr txBox="1"/>
          <p:nvPr/>
        </p:nvSpPr>
        <p:spPr>
          <a:xfrm>
            <a:off x="584200" y="65151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232895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E4D8382-3F85-E1B4-F000-E87F38F6A8A9}"/>
              </a:ext>
            </a:extLst>
          </p:cNvPr>
          <p:cNvSpPr/>
          <p:nvPr/>
        </p:nvSpPr>
        <p:spPr>
          <a:xfrm>
            <a:off x="584200" y="355600"/>
            <a:ext cx="1625600" cy="304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503C44-AC60-132B-8136-0022F65C8CC3}"/>
              </a:ext>
            </a:extLst>
          </p:cNvPr>
          <p:cNvSpPr txBox="1"/>
          <p:nvPr/>
        </p:nvSpPr>
        <p:spPr>
          <a:xfrm>
            <a:off x="673100" y="393700"/>
            <a:ext cx="144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300" b="1">
                <a:solidFill>
                  <a:srgbClr val="141710"/>
                </a:solidFill>
                <a:latin typeface="Aptos" panose="020B0004020202020204" pitchFamily="34" charset="0"/>
              </a:rPr>
              <a:t>TƯƠNG LAI</a:t>
            </a:r>
            <a:endParaRPr lang="en-US" sz="1300" b="1">
              <a:solidFill>
                <a:srgbClr val="141710"/>
              </a:solidFill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CEA99-5083-4FBF-5F4C-9668041439E9}"/>
              </a:ext>
            </a:extLst>
          </p:cNvPr>
          <p:cNvSpPr txBox="1"/>
          <p:nvPr/>
        </p:nvSpPr>
        <p:spPr>
          <a:xfrm>
            <a:off x="584200" y="787400"/>
            <a:ext cx="105410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Aptos" panose="020B0004020202020204" pitchFamily="34" charset="0"/>
              </a:rPr>
              <a:t>Lộ trình phát triển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1F116B-D63A-09FA-F2DB-DA727CD82640}"/>
              </a:ext>
            </a:extLst>
          </p:cNvPr>
          <p:cNvSpPr txBox="1"/>
          <p:nvPr/>
        </p:nvSpPr>
        <p:spPr>
          <a:xfrm>
            <a:off x="11341100" y="406400"/>
            <a:ext cx="3556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US" sz="1200" b="1">
                <a:solidFill>
                  <a:srgbClr val="C1C9B8"/>
                </a:solidFill>
                <a:latin typeface="Aptos" panose="020B0004020202020204" pitchFamily="34" charset="0"/>
              </a:rPr>
              <a:t>10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0A0B90-D284-F077-93A2-F67BBE85A78B}"/>
              </a:ext>
            </a:extLst>
          </p:cNvPr>
          <p:cNvCxnSpPr/>
          <p:nvPr/>
        </p:nvCxnSpPr>
        <p:spPr>
          <a:xfrm>
            <a:off x="584200" y="1435100"/>
            <a:ext cx="11023600" cy="0"/>
          </a:xfrm>
          <a:prstGeom prst="line">
            <a:avLst/>
          </a:prstGeom>
          <a:ln w="127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C14EF6A-AE47-4B53-B558-AA57215F8A31}"/>
              </a:ext>
            </a:extLst>
          </p:cNvPr>
          <p:cNvSpPr/>
          <p:nvPr/>
        </p:nvSpPr>
        <p:spPr>
          <a:xfrm>
            <a:off x="635000" y="2044700"/>
            <a:ext cx="2565400" cy="3632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10D6B6-D1F6-D805-3959-C3E137144D90}"/>
              </a:ext>
            </a:extLst>
          </p:cNvPr>
          <p:cNvSpPr txBox="1"/>
          <p:nvPr/>
        </p:nvSpPr>
        <p:spPr>
          <a:xfrm>
            <a:off x="889000" y="2298700"/>
            <a:ext cx="205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E698"/>
                </a:solidFill>
                <a:latin typeface="Aptos" panose="020B0004020202020204" pitchFamily="34" charset="0"/>
              </a:rPr>
              <a:t>01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31C54A5-099D-D622-4930-47A60103ED25}"/>
              </a:ext>
            </a:extLst>
          </p:cNvPr>
          <p:cNvCxnSpPr/>
          <p:nvPr/>
        </p:nvCxnSpPr>
        <p:spPr>
          <a:xfrm>
            <a:off x="889000" y="3124200"/>
            <a:ext cx="2057400" cy="0"/>
          </a:xfrm>
          <a:prstGeom prst="line">
            <a:avLst/>
          </a:prstGeom>
          <a:ln w="254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D3F706A-5770-AA84-C565-15CF46722145}"/>
              </a:ext>
            </a:extLst>
          </p:cNvPr>
          <p:cNvSpPr txBox="1"/>
          <p:nvPr/>
        </p:nvSpPr>
        <p:spPr>
          <a:xfrm>
            <a:off x="889000" y="3429000"/>
            <a:ext cx="2057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THANH TOÁN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F952ED-3BC7-D056-D044-A52253522EB2}"/>
              </a:ext>
            </a:extLst>
          </p:cNvPr>
          <p:cNvSpPr txBox="1"/>
          <p:nvPr/>
        </p:nvSpPr>
        <p:spPr>
          <a:xfrm>
            <a:off x="889000" y="4000500"/>
            <a:ext cx="205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C1C9B8"/>
                </a:solidFill>
                <a:latin typeface="Aptos" panose="020B0004020202020204" pitchFamily="34" charset="0"/>
              </a:rPr>
              <a:t>Cổng thanh toán và webhook tự động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827DBE-384A-E55D-B322-B59917E8C5F4}"/>
              </a:ext>
            </a:extLst>
          </p:cNvPr>
          <p:cNvSpPr/>
          <p:nvPr/>
        </p:nvSpPr>
        <p:spPr>
          <a:xfrm>
            <a:off x="3429000" y="2044700"/>
            <a:ext cx="2565400" cy="3632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9DD55F-D0E7-7D4C-E834-028408C2EB49}"/>
              </a:ext>
            </a:extLst>
          </p:cNvPr>
          <p:cNvSpPr txBox="1"/>
          <p:nvPr/>
        </p:nvSpPr>
        <p:spPr>
          <a:xfrm>
            <a:off x="3683000" y="2298700"/>
            <a:ext cx="205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4FB0FF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4F1421-E79D-64B6-7ACF-97C5A604A15B}"/>
              </a:ext>
            </a:extLst>
          </p:cNvPr>
          <p:cNvCxnSpPr/>
          <p:nvPr/>
        </p:nvCxnSpPr>
        <p:spPr>
          <a:xfrm>
            <a:off x="3683000" y="3124200"/>
            <a:ext cx="2057400" cy="0"/>
          </a:xfrm>
          <a:prstGeom prst="line">
            <a:avLst/>
          </a:prstGeom>
          <a:ln w="254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95F6FD3-9BA4-6195-69D8-0C4FA50F835F}"/>
              </a:ext>
            </a:extLst>
          </p:cNvPr>
          <p:cNvSpPr txBox="1"/>
          <p:nvPr/>
        </p:nvSpPr>
        <p:spPr>
          <a:xfrm>
            <a:off x="3683000" y="3429000"/>
            <a:ext cx="2057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KIỂM THỬ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BFC850-90A0-6C16-770F-8981CDA10169}"/>
              </a:ext>
            </a:extLst>
          </p:cNvPr>
          <p:cNvSpPr txBox="1"/>
          <p:nvPr/>
        </p:nvSpPr>
        <p:spPr>
          <a:xfrm>
            <a:off x="3683000" y="4000500"/>
            <a:ext cx="205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C1C9B8"/>
                </a:solidFill>
                <a:latin typeface="Aptos" panose="020B0004020202020204" pitchFamily="34" charset="0"/>
              </a:rPr>
              <a:t>API test và E2E với Playwright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79EF37-189D-4D7C-BCBF-3EDCBE93781B}"/>
              </a:ext>
            </a:extLst>
          </p:cNvPr>
          <p:cNvSpPr/>
          <p:nvPr/>
        </p:nvSpPr>
        <p:spPr>
          <a:xfrm>
            <a:off x="6223000" y="2044700"/>
            <a:ext cx="2565400" cy="3632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4659E1-9790-86F4-AE25-04DE7854B888}"/>
              </a:ext>
            </a:extLst>
          </p:cNvPr>
          <p:cNvSpPr txBox="1"/>
          <p:nvPr/>
        </p:nvSpPr>
        <p:spPr>
          <a:xfrm>
            <a:off x="6477000" y="2298700"/>
            <a:ext cx="205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FFB248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D364049-D866-4635-C3C0-9B6F55575F70}"/>
              </a:ext>
            </a:extLst>
          </p:cNvPr>
          <p:cNvCxnSpPr/>
          <p:nvPr/>
        </p:nvCxnSpPr>
        <p:spPr>
          <a:xfrm>
            <a:off x="6477000" y="3124200"/>
            <a:ext cx="2057400" cy="0"/>
          </a:xfrm>
          <a:prstGeom prst="line">
            <a:avLst/>
          </a:prstGeom>
          <a:ln w="254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5CA6923-A5C6-F253-7EAD-14F1928CCA56}"/>
              </a:ext>
            </a:extLst>
          </p:cNvPr>
          <p:cNvSpPr txBox="1"/>
          <p:nvPr/>
        </p:nvSpPr>
        <p:spPr>
          <a:xfrm>
            <a:off x="6477000" y="3429000"/>
            <a:ext cx="2057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TRIỂN KHAI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B331B5-7662-EEF4-68E3-E16679AE9CC7}"/>
              </a:ext>
            </a:extLst>
          </p:cNvPr>
          <p:cNvSpPr txBox="1"/>
          <p:nvPr/>
        </p:nvSpPr>
        <p:spPr>
          <a:xfrm>
            <a:off x="6477000" y="4000500"/>
            <a:ext cx="205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sv-SE">
                <a:solidFill>
                  <a:srgbClr val="C1C9B8"/>
                </a:solidFill>
                <a:latin typeface="Aptos" panose="020B0004020202020204" pitchFamily="34" charset="0"/>
              </a:rPr>
              <a:t>Docker · CI/CD · Cloud · Backup</a:t>
            </a:r>
            <a:endParaRPr lang="en-US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581B459-CDC7-F440-9089-8AAE9CB1779A}"/>
              </a:ext>
            </a:extLst>
          </p:cNvPr>
          <p:cNvSpPr/>
          <p:nvPr/>
        </p:nvSpPr>
        <p:spPr>
          <a:xfrm>
            <a:off x="9017000" y="2044700"/>
            <a:ext cx="2565400" cy="3632200"/>
          </a:xfrm>
          <a:prstGeom prst="roundRect">
            <a:avLst/>
          </a:prstGeom>
          <a:solidFill>
            <a:srgbClr val="38462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9BDFF6-3402-BC65-5AA4-7BAEA3BE44FC}"/>
              </a:ext>
            </a:extLst>
          </p:cNvPr>
          <p:cNvSpPr txBox="1"/>
          <p:nvPr/>
        </p:nvSpPr>
        <p:spPr>
          <a:xfrm>
            <a:off x="9271000" y="2298700"/>
            <a:ext cx="205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3600" b="1">
                <a:solidFill>
                  <a:srgbClr val="00E698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26A072-B5D6-5223-2012-7A99F9702F62}"/>
              </a:ext>
            </a:extLst>
          </p:cNvPr>
          <p:cNvCxnSpPr/>
          <p:nvPr/>
        </p:nvCxnSpPr>
        <p:spPr>
          <a:xfrm>
            <a:off x="9271000" y="3124200"/>
            <a:ext cx="2057400" cy="0"/>
          </a:xfrm>
          <a:prstGeom prst="line">
            <a:avLst/>
          </a:prstGeom>
          <a:ln w="25400">
            <a:solidFill>
              <a:srgbClr val="47543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C1A24EE-55D2-4AB8-E762-CF27D620838E}"/>
              </a:ext>
            </a:extLst>
          </p:cNvPr>
          <p:cNvSpPr txBox="1"/>
          <p:nvPr/>
        </p:nvSpPr>
        <p:spPr>
          <a:xfrm>
            <a:off x="9271000" y="3429000"/>
            <a:ext cx="20574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1900" b="1">
                <a:solidFill>
                  <a:srgbClr val="FFFFFF"/>
                </a:solidFill>
                <a:latin typeface="Aptos" panose="020B0004020202020204" pitchFamily="34" charset="0"/>
              </a:rPr>
              <a:t>THÔNG MINH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9BED3C-BAF8-4B19-2261-E44742375DF8}"/>
              </a:ext>
            </a:extLst>
          </p:cNvPr>
          <p:cNvSpPr txBox="1"/>
          <p:nvPr/>
        </p:nvSpPr>
        <p:spPr>
          <a:xfrm>
            <a:off x="9271000" y="4000500"/>
            <a:ext cx="20574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>
                <a:solidFill>
                  <a:srgbClr val="C1C9B8"/>
                </a:solidFill>
                <a:latin typeface="Aptos" panose="020B0004020202020204" pitchFamily="34" charset="0"/>
              </a:rPr>
              <a:t>Gợi ý xe và dự báo nhu cầu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BD80C70C-288B-1736-667B-43C7730784A4}"/>
              </a:ext>
            </a:extLst>
          </p:cNvPr>
          <p:cNvSpPr/>
          <p:nvPr/>
        </p:nvSpPr>
        <p:spPr>
          <a:xfrm>
            <a:off x="2336800" y="5969000"/>
            <a:ext cx="7518400" cy="431800"/>
          </a:xfrm>
          <a:prstGeom prst="roundRect">
            <a:avLst/>
          </a:prstGeom>
          <a:solidFill>
            <a:srgbClr val="00E6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F72501-7B85-F067-5175-5F708DF4B09B}"/>
              </a:ext>
            </a:extLst>
          </p:cNvPr>
          <p:cNvSpPr txBox="1"/>
          <p:nvPr/>
        </p:nvSpPr>
        <p:spPr>
          <a:xfrm>
            <a:off x="2590800" y="6057900"/>
            <a:ext cx="70104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700" b="1">
                <a:solidFill>
                  <a:srgbClr val="141710"/>
                </a:solidFill>
                <a:latin typeface="Aptos" panose="020B0004020202020204" pitchFamily="34" charset="0"/>
              </a:rPr>
              <a:t>Ưu tiên: Thanh toán tự động  ·  E2E test  ·  Docker</a:t>
            </a:r>
            <a:endParaRPr lang="en-US" sz="1700" b="1">
              <a:solidFill>
                <a:srgbClr val="141710"/>
              </a:solidFill>
              <a:latin typeface="Aptos" panose="020B00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01BA80-44AD-F83F-A433-6AB5D84652D1}"/>
              </a:ext>
            </a:extLst>
          </p:cNvPr>
          <p:cNvSpPr txBox="1"/>
          <p:nvPr/>
        </p:nvSpPr>
        <p:spPr>
          <a:xfrm>
            <a:off x="584200" y="65151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sz="900" b="1">
                <a:solidFill>
                  <a:srgbClr val="C1C9B8"/>
                </a:solidFill>
                <a:latin typeface="Aptos" panose="020B0004020202020204" pitchFamily="34" charset="0"/>
              </a:rPr>
              <a:t>CAR RENTAL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456158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3F13E8A-8273-0473-98BA-51421A8ED685}"/>
              </a:ext>
            </a:extLst>
          </p:cNvPr>
          <p:cNvSpPr/>
          <p:nvPr/>
        </p:nvSpPr>
        <p:spPr>
          <a:xfrm>
            <a:off x="5207000" y="1041400"/>
            <a:ext cx="1778000" cy="1778000"/>
          </a:xfrm>
          <a:prstGeom prst="ellipse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61DE8-A6FF-AED8-24A4-6FDEC8761EE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397000"/>
            <a:ext cx="1066800" cy="1066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83A89B-9C96-AB12-BD2F-4A8520397650}"/>
              </a:ext>
            </a:extLst>
          </p:cNvPr>
          <p:cNvSpPr txBox="1"/>
          <p:nvPr/>
        </p:nvSpPr>
        <p:spPr>
          <a:xfrm>
            <a:off x="1270000" y="3429000"/>
            <a:ext cx="9652000" cy="58477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3800" b="1">
                <a:solidFill>
                  <a:srgbClr val="FFFFFF"/>
                </a:solidFill>
                <a:latin typeface="Aptos" panose="020B0004020202020204" pitchFamily="34" charset="0"/>
              </a:rPr>
              <a:t>XIN CHÂN THÀNH CẢM ƠN</a:t>
            </a:r>
            <a:endParaRPr lang="en-US" sz="3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ED3EA-85D4-A086-58D6-5D3810F5B52F}"/>
              </a:ext>
            </a:extLst>
          </p:cNvPr>
          <p:cNvSpPr txBox="1"/>
          <p:nvPr/>
        </p:nvSpPr>
        <p:spPr>
          <a:xfrm>
            <a:off x="1651000" y="4318000"/>
            <a:ext cx="889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vi-VN" sz="1900">
                <a:solidFill>
                  <a:srgbClr val="C1C9B8"/>
                </a:solidFill>
                <a:latin typeface="Aptos" panose="020B0004020202020204" pitchFamily="34" charset="0"/>
              </a:rPr>
              <a:t>Kính mong nhận được ý kiến đóng góp từ Thầy/Cô và Hội đồng</a:t>
            </a:r>
            <a:endParaRPr lang="en-US" sz="1900">
              <a:solidFill>
                <a:srgbClr val="C1C9B8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A80036-82F7-4CE2-AD5A-962020228703}"/>
              </a:ext>
            </a:extLst>
          </p:cNvPr>
          <p:cNvSpPr/>
          <p:nvPr/>
        </p:nvSpPr>
        <p:spPr>
          <a:xfrm>
            <a:off x="4191000" y="5181600"/>
            <a:ext cx="3810000" cy="736600"/>
          </a:xfrm>
          <a:prstGeom prst="roundRect">
            <a:avLst/>
          </a:prstGeom>
          <a:solidFill>
            <a:srgbClr val="384629"/>
          </a:solidFill>
          <a:ln>
            <a:solidFill>
              <a:srgbClr val="00E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C862B2-32E7-22B6-C12A-DD2724F4EB39}"/>
              </a:ext>
            </a:extLst>
          </p:cNvPr>
          <p:cNvSpPr txBox="1"/>
          <p:nvPr/>
        </p:nvSpPr>
        <p:spPr>
          <a:xfrm>
            <a:off x="4191000" y="5359400"/>
            <a:ext cx="38100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sz="2300" b="1">
                <a:solidFill>
                  <a:srgbClr val="00E698"/>
                </a:solidFill>
                <a:latin typeface="Aptos" panose="020B0004020202020204" pitchFamily="34" charset="0"/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64473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720</Words>
  <Application>Microsoft Office PowerPoint</Application>
  <PresentationFormat>Widescreen</PresentationFormat>
  <Paragraphs>187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Công Minh Phạm</dc:creator>
  <cp:lastModifiedBy>Công Minh Phạm</cp:lastModifiedBy>
  <cp:revision>2</cp:revision>
  <dcterms:created xsi:type="dcterms:W3CDTF">2026-06-30T08:47:17Z</dcterms:created>
  <dcterms:modified xsi:type="dcterms:W3CDTF">2026-06-30T10:38:23Z</dcterms:modified>
</cp:coreProperties>
</file>