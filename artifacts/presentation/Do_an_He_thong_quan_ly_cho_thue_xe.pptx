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485-736B-ACC0-7FBB-B75B9D5B4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E1781-9492-7714-1DE9-AAFF8AF01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63EEB-E979-7A59-935B-381B8CFD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446-E91F-5B41-C37D-4701BB96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B51B4-DEAD-5221-8C7A-4BDF229A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0505-FF0B-10FC-E2FE-C0EDCA29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B25CB-9E6F-2305-37B4-422D9FC6B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7B39D-C239-6832-B2D3-8D527E2E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603D4-6861-3DD0-CB00-8CA186A4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5AC24-EF3D-3178-07D9-753F346D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EE73-ACB0-8637-E3C8-88C35C2D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9DC23-04EA-559D-CF09-FEE4EDDB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225A8-9DF7-E62F-4247-ABCD853D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84A4D-F7C6-4789-F0B1-32D89AE1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3B29-B688-9E56-AE61-949E3513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2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C9BA-C6B5-C3DB-436C-481AC759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750CF-D73B-DC09-AC9C-A231A1D1C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C87B-9358-9630-8047-370494DE0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8FD27-4E83-EE85-0C88-8FA148FE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A5F41-E9E8-44D3-F215-A9A87D2A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39BBD-A21E-4F92-1802-BFF696E5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B1C0-2274-FD35-15C0-2136A350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5E743-41DA-85DF-A356-A66CE1F3D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19EFE-3B38-2AFB-F3FD-E13ED1817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EC191-B45A-C96D-43F6-61CAC110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77B03-2683-9A28-6F57-6EEC0E92D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EB0E1-957D-B339-009B-24F735BB4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603C4-8AA4-A320-CB38-DCBA7CC9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B7F37-D6AB-AEAA-0445-FE3CC8A8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7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20B8-204E-70ED-B1CD-32CFFCA5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1A17A-73EE-954D-B7A3-901E4464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85F6F-EEC1-C68C-D27F-935566E1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DB30C-2CA2-CF9C-9862-BD1E2B8A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5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947730-F311-3430-5B70-95EF9EFD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FD808-241F-CB86-B1C7-FAE553AE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D9C4B-834A-D86F-9BA1-2D903992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9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536B-01A2-7CB8-1499-B81BDBFC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E1E83-9F40-E6DB-0FDB-EA90F05C8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74EE2-D8CB-8C65-D809-96CED0012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74EA7-897C-7C33-75DA-057550B8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1D679-6DEE-690B-BDBE-C5DFFF9D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7F12B-BA20-002C-1187-E4C2EB42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5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046DF-C85B-5408-11FF-64C22728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53A52D-8C42-5BE5-84DF-9947ED84A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21811-BEB6-18C1-D7EF-F2264130A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9BC95-BE7C-8AE4-B6BA-20E58230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22AB8-70B6-A6CE-6442-F91C400C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940F5-916D-05D3-122B-3E3AEC15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6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214FA-820C-173C-DD1D-E1EFF668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0BB88-6D87-963E-992D-517288827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FF345-C022-D80F-1397-998721C3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6288F-3125-F364-4BFE-33BE86F63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16E27-9E48-A4BD-E2F4-378B6B41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7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99823-2DF4-12C3-4B78-9EA6B8185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1266A-F5FC-CD46-E6CD-B5D4EFDB8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E511C-299E-B5F2-15CF-A5691056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4407-D33A-7088-B3A0-AB9288EC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74198-92EE-4562-8D6E-4191459A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8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1934D-EF1D-6FF8-1B69-C064031D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B7BFE-083E-C4A0-E6E6-BFB5E3AF8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2CA6C-D095-3611-32E0-F75A64391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FD2A1-3B23-477F-8A4A-3CBBC28A16D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D8FAA-A56C-2494-417C-0B59A3B6D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26A9D-7391-04E5-93BB-6B31D6F24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0CC13-BE52-4CFC-B9DD-1BE974970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9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B2071-A708-B459-8DF0-7682313D88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FB3D0C-E829-8551-CB4E-DBB24AA691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14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39A7B-C1F6-E945-BE5C-CC01AA143A29}"/>
              </a:ext>
            </a:extLst>
          </p:cNvPr>
          <p:cNvSpPr/>
          <p:nvPr/>
        </p:nvSpPr>
        <p:spPr>
          <a:xfrm>
            <a:off x="457200" y="990600"/>
            <a:ext cx="8382000" cy="2362200"/>
          </a:xfrm>
          <a:prstGeom prst="rect">
            <a:avLst/>
          </a:prstGeom>
          <a:solidFill>
            <a:srgbClr val="18201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BE9468-0347-66E1-6493-DF2501D8E7CC}"/>
              </a:ext>
            </a:extLst>
          </p:cNvPr>
          <p:cNvSpPr/>
          <p:nvPr/>
        </p:nvSpPr>
        <p:spPr>
          <a:xfrm>
            <a:off x="660400" y="533400"/>
            <a:ext cx="1905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15B47-05FF-BB54-927E-32F3A75C57C5}"/>
              </a:ext>
            </a:extLst>
          </p:cNvPr>
          <p:cNvSpPr txBox="1"/>
          <p:nvPr/>
        </p:nvSpPr>
        <p:spPr>
          <a:xfrm>
            <a:off x="749300" y="5842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ĐỒ ÁN TỐT NGHIỆP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964B1-196F-68A6-D384-F72CE5A9DCE4}"/>
              </a:ext>
            </a:extLst>
          </p:cNvPr>
          <p:cNvSpPr txBox="1"/>
          <p:nvPr/>
        </p:nvSpPr>
        <p:spPr>
          <a:xfrm>
            <a:off x="660400" y="1168400"/>
            <a:ext cx="8128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XÂY DỰNG HỆ THỐNG
QUẢN LÝ CHO THUÊ XE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1CD58-AB4E-167E-65EE-D491EA6399C9}"/>
              </a:ext>
            </a:extLst>
          </p:cNvPr>
          <p:cNvSpPr txBox="1"/>
          <p:nvPr/>
        </p:nvSpPr>
        <p:spPr>
          <a:xfrm>
            <a:off x="698500" y="2794000"/>
            <a:ext cx="749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C1C9B8"/>
                </a:solidFill>
                <a:latin typeface="Aptos" panose="020B0004020202020204" pitchFamily="34" charset="0"/>
              </a:rPr>
              <a:t>Nền tảng số hóa toàn bộ quy trình từ tìm xe đến hoàn tất hợp đồng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207D03-3276-AF82-FDA0-1294948266D3}"/>
              </a:ext>
            </a:extLst>
          </p:cNvPr>
          <p:cNvSpPr/>
          <p:nvPr/>
        </p:nvSpPr>
        <p:spPr>
          <a:xfrm>
            <a:off x="660400" y="3708400"/>
            <a:ext cx="6604000" cy="1905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256B57-DF0D-A29A-288F-40276088F4D4}"/>
              </a:ext>
            </a:extLst>
          </p:cNvPr>
          <p:cNvSpPr txBox="1"/>
          <p:nvPr/>
        </p:nvSpPr>
        <p:spPr>
          <a:xfrm>
            <a:off x="939800" y="40005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100" b="1">
                <a:solidFill>
                  <a:srgbClr val="C1C9B8"/>
                </a:solidFill>
                <a:latin typeface="Aptos" panose="020B0004020202020204" pitchFamily="34" charset="0"/>
              </a:rPr>
              <a:t>Giảng viên hướng dẫn</a:t>
            </a:r>
            <a:endParaRPr lang="en-US" sz="1100" b="1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8A1AA-2505-C5A3-7547-E4841A8551BF}"/>
              </a:ext>
            </a:extLst>
          </p:cNvPr>
          <p:cNvSpPr txBox="1"/>
          <p:nvPr/>
        </p:nvSpPr>
        <p:spPr>
          <a:xfrm>
            <a:off x="3517900" y="3975100"/>
            <a:ext cx="330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 err="1">
                <a:solidFill>
                  <a:srgbClr val="FFFFFF"/>
                </a:solidFill>
                <a:latin typeface="Aptos" panose="020B0004020202020204" pitchFamily="34" charset="0"/>
              </a:rPr>
              <a:t>Đỗ</a:t>
            </a:r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 Oanh Cường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455DC-5BEB-8962-4553-D12E45F8CA13}"/>
              </a:ext>
            </a:extLst>
          </p:cNvPr>
          <p:cNvSpPr txBox="1"/>
          <p:nvPr/>
        </p:nvSpPr>
        <p:spPr>
          <a:xfrm>
            <a:off x="939800" y="45212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Sinh viên thực hiện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B5C0E-A8F7-9819-4DB4-DDE969BBB590}"/>
              </a:ext>
            </a:extLst>
          </p:cNvPr>
          <p:cNvSpPr txBox="1"/>
          <p:nvPr/>
        </p:nvSpPr>
        <p:spPr>
          <a:xfrm>
            <a:off x="3517900" y="4495800"/>
            <a:ext cx="342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Phạm Công Minh  ·  2251162074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8E90B-A835-9D40-D86B-710877A40A80}"/>
              </a:ext>
            </a:extLst>
          </p:cNvPr>
          <p:cNvSpPr txBox="1"/>
          <p:nvPr/>
        </p:nvSpPr>
        <p:spPr>
          <a:xfrm>
            <a:off x="939800" y="50419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Lớp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A4D6F-506D-0A97-9246-05057AFF912C}"/>
              </a:ext>
            </a:extLst>
          </p:cNvPr>
          <p:cNvSpPr txBox="1"/>
          <p:nvPr/>
        </p:nvSpPr>
        <p:spPr>
          <a:xfrm>
            <a:off x="3517900" y="5016500"/>
            <a:ext cx="330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64HTTT1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064C6B-60F6-6E2B-392C-D663925F24F1}"/>
              </a:ext>
            </a:extLst>
          </p:cNvPr>
          <p:cNvSpPr txBox="1"/>
          <p:nvPr/>
        </p:nvSpPr>
        <p:spPr>
          <a:xfrm>
            <a:off x="10756900" y="61214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6391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2703B0-8EF4-C418-50F9-A93CE79B423B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4B462-0687-725D-E269-3589126D7821}"/>
              </a:ext>
            </a:extLst>
          </p:cNvPr>
          <p:cNvSpPr txBox="1"/>
          <p:nvPr/>
        </p:nvSpPr>
        <p:spPr>
          <a:xfrm>
            <a:off x="673100" y="406400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BỐI CẢNH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133B2-B688-436A-95E3-D3D991FE4C72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Lý do chọn đề tài &amp; mục tiêu nghiên cứu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A345C-03A6-109D-79D1-603E840FA560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5B5C55-198B-D74B-E7F8-25F759265342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932929-F9B5-8594-FD81-DE755CFB9630}"/>
              </a:ext>
            </a:extLst>
          </p:cNvPr>
          <p:cNvSpPr txBox="1"/>
          <p:nvPr/>
        </p:nvSpPr>
        <p:spPr>
          <a:xfrm>
            <a:off x="660400" y="1828800"/>
            <a:ext cx="736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E698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B6C6F-0B85-CFC0-8E4C-661E4F2CCA66}"/>
              </a:ext>
            </a:extLst>
          </p:cNvPr>
          <p:cNvSpPr txBox="1"/>
          <p:nvPr/>
        </p:nvSpPr>
        <p:spPr>
          <a:xfrm>
            <a:off x="1422400" y="1879600"/>
            <a:ext cx="304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Bài toán thực tế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240533-E3D5-B514-6353-75B8DC2DB94F}"/>
              </a:ext>
            </a:extLst>
          </p:cNvPr>
          <p:cNvSpPr/>
          <p:nvPr/>
        </p:nvSpPr>
        <p:spPr>
          <a:xfrm>
            <a:off x="660400" y="2463800"/>
            <a:ext cx="3352800" cy="1498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10F1FE-8138-E479-E4F0-0352A9EAAE10}"/>
              </a:ext>
            </a:extLst>
          </p:cNvPr>
          <p:cNvSpPr/>
          <p:nvPr/>
        </p:nvSpPr>
        <p:spPr>
          <a:xfrm>
            <a:off x="660400" y="2463800"/>
            <a:ext cx="63500" cy="1498600"/>
          </a:xfrm>
          <a:prstGeom prst="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FF9B6-1EA6-E2BC-66CD-430BA1FA26D3}"/>
              </a:ext>
            </a:extLst>
          </p:cNvPr>
          <p:cNvSpPr txBox="1"/>
          <p:nvPr/>
        </p:nvSpPr>
        <p:spPr>
          <a:xfrm>
            <a:off x="889000" y="26670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Quản lý phân tán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5DFEC-B584-BF62-05AB-60EA1E5F01F2}"/>
              </a:ext>
            </a:extLst>
          </p:cNvPr>
          <p:cNvSpPr txBox="1"/>
          <p:nvPr/>
        </p:nvSpPr>
        <p:spPr>
          <a:xfrm>
            <a:off x="889000" y="3073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1C9B8"/>
                </a:solidFill>
                <a:latin typeface="Aptos" panose="020B0004020202020204" pitchFamily="34" charset="0"/>
              </a:rPr>
              <a:t>Thông tin xe, khách hàng, lịch thuê và thanh toán dễ rời rạc, khó đối soát.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CB1959-4585-E78C-C0D5-ED9F3F428DF9}"/>
              </a:ext>
            </a:extLst>
          </p:cNvPr>
          <p:cNvSpPr/>
          <p:nvPr/>
        </p:nvSpPr>
        <p:spPr>
          <a:xfrm>
            <a:off x="660400" y="4140200"/>
            <a:ext cx="3352800" cy="1498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D07F3E-2105-6B63-5A42-7606E81202CE}"/>
              </a:ext>
            </a:extLst>
          </p:cNvPr>
          <p:cNvSpPr/>
          <p:nvPr/>
        </p:nvSpPr>
        <p:spPr>
          <a:xfrm>
            <a:off x="660400" y="4140200"/>
            <a:ext cx="63500" cy="1498600"/>
          </a:xfrm>
          <a:prstGeom prst="rect">
            <a:avLst/>
          </a:prstGeom>
          <a:solidFill>
            <a:srgbClr val="FF6B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0E36F-84E5-47BA-C593-474F1077A466}"/>
              </a:ext>
            </a:extLst>
          </p:cNvPr>
          <p:cNvSpPr txBox="1"/>
          <p:nvPr/>
        </p:nvSpPr>
        <p:spPr>
          <a:xfrm>
            <a:off x="889000" y="43434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Rủi ro trùng lịch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D84E8-4012-0255-239E-C40DB4071BD1}"/>
              </a:ext>
            </a:extLst>
          </p:cNvPr>
          <p:cNvSpPr txBox="1"/>
          <p:nvPr/>
        </p:nvSpPr>
        <p:spPr>
          <a:xfrm>
            <a:off x="889000" y="4749800"/>
            <a:ext cx="292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1C9B8"/>
                </a:solidFill>
                <a:latin typeface="Aptos" panose="020B0004020202020204" pitchFamily="34" charset="0"/>
              </a:rPr>
              <a:t>Xử lý thủ công có thể khiến cùng một xe hoặc cùng khách hàng bị xếp lịch chồng chéo.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91EF9F-A2E7-6209-8661-60E55F46BF09}"/>
              </a:ext>
            </a:extLst>
          </p:cNvPr>
          <p:cNvSpPr txBox="1"/>
          <p:nvPr/>
        </p:nvSpPr>
        <p:spPr>
          <a:xfrm>
            <a:off x="4686300" y="1828800"/>
            <a:ext cx="736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E69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F966B-5DCB-64D1-174E-F16BC20AEC74}"/>
              </a:ext>
            </a:extLst>
          </p:cNvPr>
          <p:cNvSpPr txBox="1"/>
          <p:nvPr/>
        </p:nvSpPr>
        <p:spPr>
          <a:xfrm>
            <a:off x="5448300" y="1879600"/>
            <a:ext cx="241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Mục tiêu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DC0A26-6FCD-AFBB-C9EC-50E1C01039B1}"/>
              </a:ext>
            </a:extLst>
          </p:cNvPr>
          <p:cNvSpPr/>
          <p:nvPr/>
        </p:nvSpPr>
        <p:spPr>
          <a:xfrm>
            <a:off x="4686300" y="2463800"/>
            <a:ext cx="68961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8D6ACD-1D45-658F-5321-76F0CE76ACC7}"/>
              </a:ext>
            </a:extLst>
          </p:cNvPr>
          <p:cNvSpPr/>
          <p:nvPr/>
        </p:nvSpPr>
        <p:spPr>
          <a:xfrm>
            <a:off x="4902200" y="2667000"/>
            <a:ext cx="304800" cy="3048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B029DB-D415-A520-5DBD-426A9CE25ABE}"/>
              </a:ext>
            </a:extLst>
          </p:cNvPr>
          <p:cNvSpPr txBox="1"/>
          <p:nvPr/>
        </p:nvSpPr>
        <p:spPr>
          <a:xfrm>
            <a:off x="4953000" y="2729956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C15C7C-26B4-BCA5-48E0-005D553E1C36}"/>
              </a:ext>
            </a:extLst>
          </p:cNvPr>
          <p:cNvSpPr txBox="1"/>
          <p:nvPr/>
        </p:nvSpPr>
        <p:spPr>
          <a:xfrm>
            <a:off x="5397500" y="25781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Số hóa nghiệp vụ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657C44-29AC-A977-8A5F-4B1E8EB4BF2B}"/>
              </a:ext>
            </a:extLst>
          </p:cNvPr>
          <p:cNvSpPr txBox="1"/>
          <p:nvPr/>
        </p:nvSpPr>
        <p:spPr>
          <a:xfrm>
            <a:off x="5397500" y="2844800"/>
            <a:ext cx="584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Xe → yêu cầu thuê → thanh toán → hợp đồng → trả xe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ACCFB-AC5B-1722-7070-B6194EFC0616}"/>
              </a:ext>
            </a:extLst>
          </p:cNvPr>
          <p:cNvSpPr/>
          <p:nvPr/>
        </p:nvSpPr>
        <p:spPr>
          <a:xfrm>
            <a:off x="4686300" y="3302000"/>
            <a:ext cx="68961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D24F2FD-FEAF-1326-EA5D-C7A070428AF8}"/>
              </a:ext>
            </a:extLst>
          </p:cNvPr>
          <p:cNvSpPr/>
          <p:nvPr/>
        </p:nvSpPr>
        <p:spPr>
          <a:xfrm>
            <a:off x="4902200" y="3505200"/>
            <a:ext cx="304800" cy="3048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6C5D17-32F1-2B61-7D57-1BA97CA626B1}"/>
              </a:ext>
            </a:extLst>
          </p:cNvPr>
          <p:cNvSpPr txBox="1"/>
          <p:nvPr/>
        </p:nvSpPr>
        <p:spPr>
          <a:xfrm>
            <a:off x="4953000" y="3572961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4BBA5-E0F6-AFB7-3168-8C286EFB6DB7}"/>
              </a:ext>
            </a:extLst>
          </p:cNvPr>
          <p:cNvSpPr txBox="1"/>
          <p:nvPr/>
        </p:nvSpPr>
        <p:spPr>
          <a:xfrm>
            <a:off x="5397500" y="34163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Tự phục vụ 24/7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C07D92-0C78-76EE-0047-2669E86B968F}"/>
              </a:ext>
            </a:extLst>
          </p:cNvPr>
          <p:cNvSpPr txBox="1"/>
          <p:nvPr/>
        </p:nvSpPr>
        <p:spPr>
          <a:xfrm>
            <a:off x="5397500" y="3683000"/>
            <a:ext cx="584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Tìm, lọc, xem chi tiết và gửi yêu cầu thuê trực tuyến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9F3B3F7-C99C-394D-500A-04B71AEF7623}"/>
              </a:ext>
            </a:extLst>
          </p:cNvPr>
          <p:cNvSpPr/>
          <p:nvPr/>
        </p:nvSpPr>
        <p:spPr>
          <a:xfrm>
            <a:off x="4686300" y="4140200"/>
            <a:ext cx="68961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A3D2BCB-3099-B7E9-20F5-E5578D9E7691}"/>
              </a:ext>
            </a:extLst>
          </p:cNvPr>
          <p:cNvSpPr/>
          <p:nvPr/>
        </p:nvSpPr>
        <p:spPr>
          <a:xfrm>
            <a:off x="4902200" y="4343400"/>
            <a:ext cx="304800" cy="3048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905483-D31E-31E0-8E5B-7C1AB7DB6894}"/>
              </a:ext>
            </a:extLst>
          </p:cNvPr>
          <p:cNvSpPr txBox="1"/>
          <p:nvPr/>
        </p:nvSpPr>
        <p:spPr>
          <a:xfrm>
            <a:off x="4959350" y="4411161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448DB4-9AD0-A13C-343D-1DA19FCF26E6}"/>
              </a:ext>
            </a:extLst>
          </p:cNvPr>
          <p:cNvSpPr txBox="1"/>
          <p:nvPr/>
        </p:nvSpPr>
        <p:spPr>
          <a:xfrm>
            <a:off x="5397500" y="42545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Quản trị tập trung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79CD1A-E460-BBA5-B7F0-429614ADF2DC}"/>
              </a:ext>
            </a:extLst>
          </p:cNvPr>
          <p:cNvSpPr txBox="1"/>
          <p:nvPr/>
        </p:nvSpPr>
        <p:spPr>
          <a:xfrm>
            <a:off x="5397500" y="4521200"/>
            <a:ext cx="584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Dashboard, phân quyền, báo cáo CSV/Excel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D572579-3471-0AD9-765E-5712A7F05913}"/>
              </a:ext>
            </a:extLst>
          </p:cNvPr>
          <p:cNvSpPr/>
          <p:nvPr/>
        </p:nvSpPr>
        <p:spPr>
          <a:xfrm>
            <a:off x="4686300" y="4978400"/>
            <a:ext cx="68961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A3C390C-14F8-10F6-866B-CA2B46FBE854}"/>
              </a:ext>
            </a:extLst>
          </p:cNvPr>
          <p:cNvSpPr/>
          <p:nvPr/>
        </p:nvSpPr>
        <p:spPr>
          <a:xfrm>
            <a:off x="4902200" y="5181600"/>
            <a:ext cx="304800" cy="3048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0EB8DD-B68C-1FC7-0DC5-D8794DB9E34B}"/>
              </a:ext>
            </a:extLst>
          </p:cNvPr>
          <p:cNvSpPr txBox="1"/>
          <p:nvPr/>
        </p:nvSpPr>
        <p:spPr>
          <a:xfrm>
            <a:off x="4953000" y="5253623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53A522-A740-B74C-17B6-010087FEE2A7}"/>
              </a:ext>
            </a:extLst>
          </p:cNvPr>
          <p:cNvSpPr txBox="1"/>
          <p:nvPr/>
        </p:nvSpPr>
        <p:spPr>
          <a:xfrm>
            <a:off x="5397500" y="50927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Nâng cao trải nghiệm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FB1B92-E5DE-7DD8-1843-CDA4FE9F94A6}"/>
              </a:ext>
            </a:extLst>
          </p:cNvPr>
          <p:cNvSpPr txBox="1"/>
          <p:nvPr/>
        </p:nvSpPr>
        <p:spPr>
          <a:xfrm>
            <a:off x="5397500" y="5359400"/>
            <a:ext cx="584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Chat hỗ trợ, AI Chat và theo dõi lịch sử thuê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0B515B-6AF4-DC8C-919E-0A1F5E9F17D1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87122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E5D428-7745-1704-C961-738814B716C7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02398-3D63-6C90-EE12-B40E8C6C2A03}"/>
              </a:ext>
            </a:extLst>
          </p:cNvPr>
          <p:cNvSpPr txBox="1"/>
          <p:nvPr/>
        </p:nvSpPr>
        <p:spPr>
          <a:xfrm>
            <a:off x="673100" y="406400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CÔNG NGHỆ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AF2DA-D922-5FCD-8C90-B6970F93F87E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Kiến trúc và nền tảng sử dụng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53D5D-1D9F-7396-07ED-974648305112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942BB1-4020-C2A2-1085-FFC40012B9F8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54231D-7327-F2DF-6E39-1C8450522F3E}"/>
              </a:ext>
            </a:extLst>
          </p:cNvPr>
          <p:cNvSpPr txBox="1"/>
          <p:nvPr/>
        </p:nvSpPr>
        <p:spPr>
          <a:xfrm>
            <a:off x="660400" y="17780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0E698"/>
                </a:solidFill>
                <a:latin typeface="Aptos" panose="020B0004020202020204" pitchFamily="34" charset="0"/>
              </a:rPr>
              <a:t>KIẾN TRÚC 3 LỚP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EF7F27-A126-E8C9-7A3F-2C906B1555F9}"/>
              </a:ext>
            </a:extLst>
          </p:cNvPr>
          <p:cNvSpPr/>
          <p:nvPr/>
        </p:nvSpPr>
        <p:spPr>
          <a:xfrm>
            <a:off x="660400" y="2222500"/>
            <a:ext cx="3098800" cy="18288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FCE40-C6B2-302A-DAD3-6012F78D7FBB}"/>
              </a:ext>
            </a:extLst>
          </p:cNvPr>
          <p:cNvSpPr txBox="1"/>
          <p:nvPr/>
        </p:nvSpPr>
        <p:spPr>
          <a:xfrm>
            <a:off x="889000" y="24257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0E698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5C86D-E063-852C-BAC5-1079B1C658DF}"/>
              </a:ext>
            </a:extLst>
          </p:cNvPr>
          <p:cNvSpPr txBox="1"/>
          <p:nvPr/>
        </p:nvSpPr>
        <p:spPr>
          <a:xfrm>
            <a:off x="1435100" y="2476500"/>
            <a:ext cx="196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GIAO DIỆN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5F8444-ED57-D744-64D6-37306A99D8D0}"/>
              </a:ext>
            </a:extLst>
          </p:cNvPr>
          <p:cNvCxnSpPr/>
          <p:nvPr/>
        </p:nvCxnSpPr>
        <p:spPr>
          <a:xfrm>
            <a:off x="889000" y="2895600"/>
            <a:ext cx="25654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D00B83-3200-DE50-D020-6A88BF4F4F36}"/>
              </a:ext>
            </a:extLst>
          </p:cNvPr>
          <p:cNvSpPr txBox="1"/>
          <p:nvPr/>
        </p:nvSpPr>
        <p:spPr>
          <a:xfrm>
            <a:off x="889000" y="3098800"/>
            <a:ext cx="254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C1C9B8"/>
                </a:solidFill>
                <a:latin typeface="Aptos" panose="020B0004020202020204" pitchFamily="34" charset="0"/>
              </a:rPr>
              <a:t>React 19 · Vite 8
React Router · CSS responsive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19CEF-C085-E275-F46B-57B18321A863}"/>
              </a:ext>
            </a:extLst>
          </p:cNvPr>
          <p:cNvCxnSpPr/>
          <p:nvPr/>
        </p:nvCxnSpPr>
        <p:spPr>
          <a:xfrm>
            <a:off x="3784600" y="3136900"/>
            <a:ext cx="3556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3AF6F7-12DE-2134-58F1-3EE0A761C767}"/>
              </a:ext>
            </a:extLst>
          </p:cNvPr>
          <p:cNvSpPr/>
          <p:nvPr/>
        </p:nvSpPr>
        <p:spPr>
          <a:xfrm>
            <a:off x="4419600" y="2222500"/>
            <a:ext cx="3098800" cy="18288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7E283B-4F8D-A2EC-39F7-19B1C8689ADB}"/>
              </a:ext>
            </a:extLst>
          </p:cNvPr>
          <p:cNvSpPr txBox="1"/>
          <p:nvPr/>
        </p:nvSpPr>
        <p:spPr>
          <a:xfrm>
            <a:off x="4648200" y="24257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4FB0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5047B-3FC2-9625-E38F-23DA2865C0AB}"/>
              </a:ext>
            </a:extLst>
          </p:cNvPr>
          <p:cNvSpPr txBox="1"/>
          <p:nvPr/>
        </p:nvSpPr>
        <p:spPr>
          <a:xfrm>
            <a:off x="5194300" y="2476500"/>
            <a:ext cx="196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DỊCH VỤ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25D316-CBE3-2EA6-9DCC-0083C173BE02}"/>
              </a:ext>
            </a:extLst>
          </p:cNvPr>
          <p:cNvCxnSpPr/>
          <p:nvPr/>
        </p:nvCxnSpPr>
        <p:spPr>
          <a:xfrm>
            <a:off x="4648200" y="2895600"/>
            <a:ext cx="25654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663AF2-987A-D8CF-0258-20F26C54FC0A}"/>
              </a:ext>
            </a:extLst>
          </p:cNvPr>
          <p:cNvSpPr txBox="1"/>
          <p:nvPr/>
        </p:nvSpPr>
        <p:spPr>
          <a:xfrm>
            <a:off x="4648200" y="3098800"/>
            <a:ext cx="254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C1C9B8"/>
                </a:solidFill>
                <a:latin typeface="Aptos" panose="020B0004020202020204" pitchFamily="34" charset="0"/>
              </a:rPr>
              <a:t>FastAPI · REST API
Pydantic · Uvicorn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F62460-69F5-F1A7-6F62-438B4871D1AC}"/>
              </a:ext>
            </a:extLst>
          </p:cNvPr>
          <p:cNvCxnSpPr/>
          <p:nvPr/>
        </p:nvCxnSpPr>
        <p:spPr>
          <a:xfrm>
            <a:off x="7543800" y="3136900"/>
            <a:ext cx="3556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C1B3D7-D0DD-7C96-EF34-5FDCA404AAD8}"/>
              </a:ext>
            </a:extLst>
          </p:cNvPr>
          <p:cNvSpPr/>
          <p:nvPr/>
        </p:nvSpPr>
        <p:spPr>
          <a:xfrm>
            <a:off x="8178800" y="2222500"/>
            <a:ext cx="3098800" cy="18288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ECC3F4-050B-497D-2613-73DBFD1FC534}"/>
              </a:ext>
            </a:extLst>
          </p:cNvPr>
          <p:cNvSpPr txBox="1"/>
          <p:nvPr/>
        </p:nvSpPr>
        <p:spPr>
          <a:xfrm>
            <a:off x="8407400" y="24257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B24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ECB568-4E66-70E0-21D8-5EEDED699853}"/>
              </a:ext>
            </a:extLst>
          </p:cNvPr>
          <p:cNvSpPr txBox="1"/>
          <p:nvPr/>
        </p:nvSpPr>
        <p:spPr>
          <a:xfrm>
            <a:off x="8953500" y="2476500"/>
            <a:ext cx="196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DỮ LIỆU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913F2D-5508-FF11-2CDB-6BB5575C5F7B}"/>
              </a:ext>
            </a:extLst>
          </p:cNvPr>
          <p:cNvCxnSpPr/>
          <p:nvPr/>
        </p:nvCxnSpPr>
        <p:spPr>
          <a:xfrm>
            <a:off x="8407400" y="2895600"/>
            <a:ext cx="25654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C92A46-B5E5-7FB6-58CC-A1EABF43108F}"/>
              </a:ext>
            </a:extLst>
          </p:cNvPr>
          <p:cNvSpPr txBox="1"/>
          <p:nvPr/>
        </p:nvSpPr>
        <p:spPr>
          <a:xfrm>
            <a:off x="8407400" y="3098800"/>
            <a:ext cx="254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C1C9B8"/>
                </a:solidFill>
                <a:latin typeface="Aptos" panose="020B0004020202020204" pitchFamily="34" charset="0"/>
              </a:rPr>
              <a:t>SQLAlchemy ORM
PostgreSQL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C3C39B-3892-0BA5-A603-A669A3F65752}"/>
              </a:ext>
            </a:extLst>
          </p:cNvPr>
          <p:cNvSpPr txBox="1"/>
          <p:nvPr/>
        </p:nvSpPr>
        <p:spPr>
          <a:xfrm>
            <a:off x="660400" y="4508500"/>
            <a:ext cx="266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0E698"/>
                </a:solidFill>
                <a:latin typeface="Aptos" panose="020B0004020202020204" pitchFamily="34" charset="0"/>
              </a:rPr>
              <a:t>THÀNH PHẦN BỔ TRỢ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8F89F0-E1A6-E3C0-E4CD-5D485D0C7DF7}"/>
              </a:ext>
            </a:extLst>
          </p:cNvPr>
          <p:cNvSpPr/>
          <p:nvPr/>
        </p:nvSpPr>
        <p:spPr>
          <a:xfrm>
            <a:off x="660400" y="4889500"/>
            <a:ext cx="3429000" cy="1168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6579E-394A-29DC-282F-2E2208CE06FD}"/>
              </a:ext>
            </a:extLst>
          </p:cNvPr>
          <p:cNvSpPr txBox="1"/>
          <p:nvPr/>
        </p:nvSpPr>
        <p:spPr>
          <a:xfrm>
            <a:off x="863600" y="5092700"/>
            <a:ext cx="3022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JWT + PBKDF2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38CC49-4BC8-2860-5374-B2F6C655CD58}"/>
              </a:ext>
            </a:extLst>
          </p:cNvPr>
          <p:cNvSpPr txBox="1"/>
          <p:nvPr/>
        </p:nvSpPr>
        <p:spPr>
          <a:xfrm>
            <a:off x="863600" y="5435600"/>
            <a:ext cx="302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Xác thực, phân quyền admin/staff và bảo vệ mật khẩu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47F01A4-FC19-AF6F-0B11-E16E344B9BF1}"/>
              </a:ext>
            </a:extLst>
          </p:cNvPr>
          <p:cNvSpPr/>
          <p:nvPr/>
        </p:nvSpPr>
        <p:spPr>
          <a:xfrm>
            <a:off x="4406900" y="4889500"/>
            <a:ext cx="3429000" cy="1168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86E651-6584-B9EF-1D93-D2E15F6F61CD}"/>
              </a:ext>
            </a:extLst>
          </p:cNvPr>
          <p:cNvSpPr txBox="1"/>
          <p:nvPr/>
        </p:nvSpPr>
        <p:spPr>
          <a:xfrm>
            <a:off x="4610100" y="5092700"/>
            <a:ext cx="3022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OpenPyXL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5AB009-B854-67A9-015E-A77F76BCEEFA}"/>
              </a:ext>
            </a:extLst>
          </p:cNvPr>
          <p:cNvSpPr txBox="1"/>
          <p:nvPr/>
        </p:nvSpPr>
        <p:spPr>
          <a:xfrm>
            <a:off x="4610100" y="5435600"/>
            <a:ext cx="302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>
                <a:solidFill>
                  <a:srgbClr val="C1C9B8"/>
                </a:solidFill>
                <a:latin typeface="Aptos" panose="020B0004020202020204" pitchFamily="34" charset="0"/>
              </a:rPr>
              <a:t>Xuất báo cáo doanh thu dưới dạng Excel và CSV</a:t>
            </a:r>
            <a:endParaRPr lang="en-US" sz="1000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F1813F-D6E3-2D7B-EDA2-83777F96E91C}"/>
              </a:ext>
            </a:extLst>
          </p:cNvPr>
          <p:cNvSpPr/>
          <p:nvPr/>
        </p:nvSpPr>
        <p:spPr>
          <a:xfrm>
            <a:off x="8153400" y="4889500"/>
            <a:ext cx="3429000" cy="1168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3DA82C-70A7-90C3-845B-EFC1007DBC5A}"/>
              </a:ext>
            </a:extLst>
          </p:cNvPr>
          <p:cNvSpPr txBox="1"/>
          <p:nvPr/>
        </p:nvSpPr>
        <p:spPr>
          <a:xfrm>
            <a:off x="8356600" y="5092700"/>
            <a:ext cx="3022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Gemini / Groq / OpenRouter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EA02B4-E3EF-0812-4ED5-2ADE0A85B82B}"/>
              </a:ext>
            </a:extLst>
          </p:cNvPr>
          <p:cNvSpPr txBox="1"/>
          <p:nvPr/>
        </p:nvSpPr>
        <p:spPr>
          <a:xfrm>
            <a:off x="8356600" y="5435600"/>
            <a:ext cx="3022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Tích hợp AI Chat theo cấu hình API key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957F38-48AA-4BC1-BE04-4F36A6B61427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1943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A078F2-9239-008D-AF69-ACE5D515A5E3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44B00-EB7F-119B-8899-3188CEE1B878}"/>
              </a:ext>
            </a:extLst>
          </p:cNvPr>
          <p:cNvSpPr txBox="1"/>
          <p:nvPr/>
        </p:nvSpPr>
        <p:spPr>
          <a:xfrm>
            <a:off x="673100" y="406400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PHÂN TÍCH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DA365-0C07-D403-72DD-666CAC9834B8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Tác nhân và luồng nghiệp vụ chính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338CE-BCB6-3B38-C3CA-65C666B5AACF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8D8F5C-3D39-9186-5D9C-8F87D9FDF343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F8C303-5ECB-978C-EC5F-BF4EB8145F0E}"/>
              </a:ext>
            </a:extLst>
          </p:cNvPr>
          <p:cNvSpPr/>
          <p:nvPr/>
        </p:nvSpPr>
        <p:spPr>
          <a:xfrm>
            <a:off x="660400" y="1828800"/>
            <a:ext cx="3175000" cy="25654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F5AEBD-5391-7AF2-CC68-A2FF5EA90455}"/>
              </a:ext>
            </a:extLst>
          </p:cNvPr>
          <p:cNvSpPr/>
          <p:nvPr/>
        </p:nvSpPr>
        <p:spPr>
          <a:xfrm>
            <a:off x="1828800" y="2044700"/>
            <a:ext cx="838200" cy="8382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53735-BA41-25A1-C4A6-665699946775}"/>
              </a:ext>
            </a:extLst>
          </p:cNvPr>
          <p:cNvSpPr txBox="1"/>
          <p:nvPr/>
        </p:nvSpPr>
        <p:spPr>
          <a:xfrm>
            <a:off x="914400" y="3035300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KHÁCH HÀNG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A2F24D-A5C5-E987-D1CD-43AA055C669C}"/>
              </a:ext>
            </a:extLst>
          </p:cNvPr>
          <p:cNvSpPr txBox="1"/>
          <p:nvPr/>
        </p:nvSpPr>
        <p:spPr>
          <a:xfrm>
            <a:off x="965200" y="3479800"/>
            <a:ext cx="2565400" cy="8463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C1C9B8"/>
                </a:solidFill>
                <a:latin typeface="Aptos" panose="020B0004020202020204" pitchFamily="34" charset="0"/>
              </a:rPr>
              <a:t>Tìm xe
Đăng ký / đăng nhập
Gửi yêu cầu thuê
Thanh toán giữ chỗ
Theo dõi lịch sử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59F686-2864-9E7D-7A7A-FA5DC1B741A8}"/>
              </a:ext>
            </a:extLst>
          </p:cNvPr>
          <p:cNvSpPr/>
          <p:nvPr/>
        </p:nvSpPr>
        <p:spPr>
          <a:xfrm>
            <a:off x="4508500" y="1828800"/>
            <a:ext cx="3175000" cy="25654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E61CC4-0FD2-52F6-451D-275953C58151}"/>
              </a:ext>
            </a:extLst>
          </p:cNvPr>
          <p:cNvSpPr/>
          <p:nvPr/>
        </p:nvSpPr>
        <p:spPr>
          <a:xfrm>
            <a:off x="5676900" y="2044700"/>
            <a:ext cx="838200" cy="838200"/>
          </a:xfrm>
          <a:prstGeom prst="ellipse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78D762-2FBE-6F0F-2F79-43DFCFB26D8D}"/>
              </a:ext>
            </a:extLst>
          </p:cNvPr>
          <p:cNvSpPr txBox="1"/>
          <p:nvPr/>
        </p:nvSpPr>
        <p:spPr>
          <a:xfrm>
            <a:off x="4762500" y="3035300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NHÂN VIÊN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86322-2562-4C4E-2DCA-221AD2AA7957}"/>
              </a:ext>
            </a:extLst>
          </p:cNvPr>
          <p:cNvSpPr txBox="1"/>
          <p:nvPr/>
        </p:nvSpPr>
        <p:spPr>
          <a:xfrm>
            <a:off x="4813300" y="3479800"/>
            <a:ext cx="2565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C1C9B8"/>
                </a:solidFill>
                <a:latin typeface="Aptos" panose="020B0004020202020204" pitchFamily="34" charset="0"/>
              </a:rPr>
              <a:t>Duyệt / từ chối yêu cầu
Xác nhận thanh toán
Tạo hợp đồng
Hỗ trợ khách hàng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04B716-777D-B59D-00E6-E617AC76F9BA}"/>
              </a:ext>
            </a:extLst>
          </p:cNvPr>
          <p:cNvSpPr/>
          <p:nvPr/>
        </p:nvSpPr>
        <p:spPr>
          <a:xfrm>
            <a:off x="8356600" y="1828800"/>
            <a:ext cx="3175000" cy="25654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54F45F-7D04-2B81-FA02-447733CDE2AF}"/>
              </a:ext>
            </a:extLst>
          </p:cNvPr>
          <p:cNvSpPr/>
          <p:nvPr/>
        </p:nvSpPr>
        <p:spPr>
          <a:xfrm>
            <a:off x="9525000" y="2044700"/>
            <a:ext cx="838200" cy="8382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679F6-0A17-1957-EAD6-76CAEAE0538D}"/>
              </a:ext>
            </a:extLst>
          </p:cNvPr>
          <p:cNvSpPr txBox="1"/>
          <p:nvPr/>
        </p:nvSpPr>
        <p:spPr>
          <a:xfrm>
            <a:off x="8610600" y="3035300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QUẢN TRỊ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62AD9-16DC-2709-2EDE-B91103709B85}"/>
              </a:ext>
            </a:extLst>
          </p:cNvPr>
          <p:cNvSpPr txBox="1"/>
          <p:nvPr/>
        </p:nvSpPr>
        <p:spPr>
          <a:xfrm>
            <a:off x="8661400" y="3479800"/>
            <a:ext cx="2565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>
                <a:solidFill>
                  <a:srgbClr val="C1C9B8"/>
                </a:solidFill>
                <a:latin typeface="Aptos" panose="020B0004020202020204" pitchFamily="34" charset="0"/>
              </a:rPr>
              <a:t>Quản lý xe &amp; khách hàng
Quản lý tài khoản
Theo dõi dashboard
Xuất báo cáo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7F9ED8-8CFA-A7C2-FED6-221E2A1D4FDD}"/>
              </a:ext>
            </a:extLst>
          </p:cNvPr>
          <p:cNvSpPr txBox="1"/>
          <p:nvPr/>
        </p:nvSpPr>
        <p:spPr>
          <a:xfrm>
            <a:off x="660400" y="47879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0E698"/>
                </a:solidFill>
                <a:latin typeface="Aptos" panose="020B0004020202020204" pitchFamily="34" charset="0"/>
              </a:rPr>
              <a:t>LUỒNG XUYÊN SUỐT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E257C4-8822-D92B-716C-D71E808CC39E}"/>
              </a:ext>
            </a:extLst>
          </p:cNvPr>
          <p:cNvSpPr/>
          <p:nvPr/>
        </p:nvSpPr>
        <p:spPr>
          <a:xfrm>
            <a:off x="660400" y="5257800"/>
            <a:ext cx="1193800" cy="609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63629-0BE2-0DDA-D180-9B161366E412}"/>
              </a:ext>
            </a:extLst>
          </p:cNvPr>
          <p:cNvSpPr txBox="1"/>
          <p:nvPr/>
        </p:nvSpPr>
        <p:spPr>
          <a:xfrm>
            <a:off x="736600" y="54610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Chọn xe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48032C-F3D8-46CD-C0B1-1DA726E68C04}"/>
              </a:ext>
            </a:extLst>
          </p:cNvPr>
          <p:cNvCxnSpPr/>
          <p:nvPr/>
        </p:nvCxnSpPr>
        <p:spPr>
          <a:xfrm>
            <a:off x="1892300" y="5562600"/>
            <a:ext cx="190500" cy="0"/>
          </a:xfrm>
          <a:prstGeom prst="line">
            <a:avLst/>
          </a:prstGeom>
          <a:ln w="1905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206057-F7CD-54EA-89CF-9C7E8163C912}"/>
              </a:ext>
            </a:extLst>
          </p:cNvPr>
          <p:cNvSpPr/>
          <p:nvPr/>
        </p:nvSpPr>
        <p:spPr>
          <a:xfrm>
            <a:off x="2171700" y="5257800"/>
            <a:ext cx="1422400" cy="6096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33AE61-242D-BF67-8450-444FE99FB63B}"/>
              </a:ext>
            </a:extLst>
          </p:cNvPr>
          <p:cNvSpPr txBox="1"/>
          <p:nvPr/>
        </p:nvSpPr>
        <p:spPr>
          <a:xfrm>
            <a:off x="2247900" y="54610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Kiểm tra lịch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4C8020-0B4D-201B-D253-EA0C8463CA6F}"/>
              </a:ext>
            </a:extLst>
          </p:cNvPr>
          <p:cNvCxnSpPr/>
          <p:nvPr/>
        </p:nvCxnSpPr>
        <p:spPr>
          <a:xfrm>
            <a:off x="3632200" y="5562600"/>
            <a:ext cx="190500" cy="0"/>
          </a:xfrm>
          <a:prstGeom prst="line">
            <a:avLst/>
          </a:prstGeom>
          <a:ln w="1905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D91265-48ED-D160-D8AC-84A75F05686C}"/>
              </a:ext>
            </a:extLst>
          </p:cNvPr>
          <p:cNvSpPr/>
          <p:nvPr/>
        </p:nvSpPr>
        <p:spPr>
          <a:xfrm>
            <a:off x="3911600" y="5257800"/>
            <a:ext cx="1193800" cy="609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18808E-DFA2-FEA7-F1A0-482CD2E15F78}"/>
              </a:ext>
            </a:extLst>
          </p:cNvPr>
          <p:cNvSpPr txBox="1"/>
          <p:nvPr/>
        </p:nvSpPr>
        <p:spPr>
          <a:xfrm>
            <a:off x="3987800" y="54610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Giữ chỗ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1854B2-E6A3-DFDE-35B8-FBF8091F5AE2}"/>
              </a:ext>
            </a:extLst>
          </p:cNvPr>
          <p:cNvCxnSpPr/>
          <p:nvPr/>
        </p:nvCxnSpPr>
        <p:spPr>
          <a:xfrm>
            <a:off x="5143500" y="5562600"/>
            <a:ext cx="190500" cy="0"/>
          </a:xfrm>
          <a:prstGeom prst="line">
            <a:avLst/>
          </a:prstGeom>
          <a:ln w="1905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14AC60-1F80-E961-69B2-66FB494636CB}"/>
              </a:ext>
            </a:extLst>
          </p:cNvPr>
          <p:cNvSpPr/>
          <p:nvPr/>
        </p:nvSpPr>
        <p:spPr>
          <a:xfrm>
            <a:off x="5422900" y="5257800"/>
            <a:ext cx="1422400" cy="609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34ECB-9910-B967-7F25-5DE623BEFE62}"/>
              </a:ext>
            </a:extLst>
          </p:cNvPr>
          <p:cNvSpPr txBox="1"/>
          <p:nvPr/>
        </p:nvSpPr>
        <p:spPr>
          <a:xfrm>
            <a:off x="5499100" y="54610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Duyệt yêu cầu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81EE36-C725-325F-FD2F-1C87A8E2B9BE}"/>
              </a:ext>
            </a:extLst>
          </p:cNvPr>
          <p:cNvCxnSpPr/>
          <p:nvPr/>
        </p:nvCxnSpPr>
        <p:spPr>
          <a:xfrm>
            <a:off x="6883400" y="5562600"/>
            <a:ext cx="190500" cy="0"/>
          </a:xfrm>
          <a:prstGeom prst="line">
            <a:avLst/>
          </a:prstGeom>
          <a:ln w="1905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036E4F-B982-7CB3-C8F0-3A9E53FAA3D8}"/>
              </a:ext>
            </a:extLst>
          </p:cNvPr>
          <p:cNvSpPr/>
          <p:nvPr/>
        </p:nvSpPr>
        <p:spPr>
          <a:xfrm>
            <a:off x="7162800" y="5257800"/>
            <a:ext cx="1193800" cy="609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FBAF61-03AD-DDB5-8894-827590F547EA}"/>
              </a:ext>
            </a:extLst>
          </p:cNvPr>
          <p:cNvSpPr txBox="1"/>
          <p:nvPr/>
        </p:nvSpPr>
        <p:spPr>
          <a:xfrm>
            <a:off x="7239000" y="54610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Thanh toán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8CFC3B-EA09-0C3E-6690-1A0212FE2E95}"/>
              </a:ext>
            </a:extLst>
          </p:cNvPr>
          <p:cNvCxnSpPr/>
          <p:nvPr/>
        </p:nvCxnSpPr>
        <p:spPr>
          <a:xfrm>
            <a:off x="8394700" y="5562600"/>
            <a:ext cx="190500" cy="0"/>
          </a:xfrm>
          <a:prstGeom prst="line">
            <a:avLst/>
          </a:prstGeom>
          <a:ln w="1905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6036637-E65E-D2E7-4611-0B89A64401CD}"/>
              </a:ext>
            </a:extLst>
          </p:cNvPr>
          <p:cNvSpPr/>
          <p:nvPr/>
        </p:nvSpPr>
        <p:spPr>
          <a:xfrm>
            <a:off x="8674100" y="5257800"/>
            <a:ext cx="1193800" cy="609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BDE703-646E-3288-3BF2-D25CB1D14E26}"/>
              </a:ext>
            </a:extLst>
          </p:cNvPr>
          <p:cNvSpPr txBox="1"/>
          <p:nvPr/>
        </p:nvSpPr>
        <p:spPr>
          <a:xfrm>
            <a:off x="8750300" y="54610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Hợp đồng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DF439F7-C173-394F-970A-B2CEDDFBA1AC}"/>
              </a:ext>
            </a:extLst>
          </p:cNvPr>
          <p:cNvCxnSpPr/>
          <p:nvPr/>
        </p:nvCxnSpPr>
        <p:spPr>
          <a:xfrm>
            <a:off x="9906000" y="5562600"/>
            <a:ext cx="190500" cy="0"/>
          </a:xfrm>
          <a:prstGeom prst="line">
            <a:avLst/>
          </a:prstGeom>
          <a:ln w="1905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036F5EC-6FA7-1750-C1E9-A0C77AC0D013}"/>
              </a:ext>
            </a:extLst>
          </p:cNvPr>
          <p:cNvSpPr/>
          <p:nvPr/>
        </p:nvSpPr>
        <p:spPr>
          <a:xfrm>
            <a:off x="10185400" y="5257800"/>
            <a:ext cx="1193800" cy="609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DE66D4-4B8E-81BD-D968-32D3F77A542C}"/>
              </a:ext>
            </a:extLst>
          </p:cNvPr>
          <p:cNvSpPr txBox="1"/>
          <p:nvPr/>
        </p:nvSpPr>
        <p:spPr>
          <a:xfrm>
            <a:off x="10261600" y="54610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Trả xe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B95947-C8B9-65E1-E3FF-5BD187F7C9EB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43926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902103-B7EF-6D4C-ED4D-90ACB6953088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E1F4C-A7BD-965E-285C-239E42DA1105}"/>
              </a:ext>
            </a:extLst>
          </p:cNvPr>
          <p:cNvSpPr txBox="1"/>
          <p:nvPr/>
        </p:nvSpPr>
        <p:spPr>
          <a:xfrm>
            <a:off x="673100" y="406400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THIẾT KẾ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FCC6A-A650-A6F4-B7BC-DACDD9E8C6EA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FFFFFF"/>
                </a:solidFill>
                <a:latin typeface="Aptos" panose="020B0004020202020204" pitchFamily="34" charset="0"/>
              </a:rPr>
              <a:t>Cấu trúc cơ sở dữ liệu quan hệ</a:t>
            </a:r>
            <a:endParaRPr lang="en-US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96B34-B83D-4D1F-BC76-94EDE05EC536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ADC264-7DD1-8EF8-3BA0-B6B19FDB016D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244326-D9F4-9EFC-2BA0-DEAF5F88D0BF}"/>
              </a:ext>
            </a:extLst>
          </p:cNvPr>
          <p:cNvSpPr/>
          <p:nvPr/>
        </p:nvSpPr>
        <p:spPr>
          <a:xfrm>
            <a:off x="635000" y="1816100"/>
            <a:ext cx="2032000" cy="1295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09D814-EECF-2319-8B00-97E3CFA17C10}"/>
              </a:ext>
            </a:extLst>
          </p:cNvPr>
          <p:cNvSpPr/>
          <p:nvPr/>
        </p:nvSpPr>
        <p:spPr>
          <a:xfrm>
            <a:off x="635000" y="1816100"/>
            <a:ext cx="2032000" cy="4064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597A5-22CD-7CFE-07BD-464F4958618E}"/>
              </a:ext>
            </a:extLst>
          </p:cNvPr>
          <p:cNvSpPr txBox="1"/>
          <p:nvPr/>
        </p:nvSpPr>
        <p:spPr>
          <a:xfrm>
            <a:off x="787400" y="1917700"/>
            <a:ext cx="172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customers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17A4BD-082C-F628-FE2C-D311B2724C90}"/>
              </a:ext>
            </a:extLst>
          </p:cNvPr>
          <p:cNvSpPr txBox="1"/>
          <p:nvPr/>
        </p:nvSpPr>
        <p:spPr>
          <a:xfrm>
            <a:off x="787400" y="23368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PK customer_id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8BB2C-1317-1813-43A8-4BAEBF282B53}"/>
              </a:ext>
            </a:extLst>
          </p:cNvPr>
          <p:cNvSpPr txBox="1"/>
          <p:nvPr/>
        </p:nvSpPr>
        <p:spPr>
          <a:xfrm>
            <a:off x="787400" y="25654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name · phone · email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6A555-0DDC-9D1B-2A50-49098E2D9B9A}"/>
              </a:ext>
            </a:extLst>
          </p:cNvPr>
          <p:cNvSpPr txBox="1"/>
          <p:nvPr/>
        </p:nvSpPr>
        <p:spPr>
          <a:xfrm>
            <a:off x="787400" y="27940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password · address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F05E0C-139F-7CCD-32EF-B8032CF8A6E2}"/>
              </a:ext>
            </a:extLst>
          </p:cNvPr>
          <p:cNvSpPr/>
          <p:nvPr/>
        </p:nvSpPr>
        <p:spPr>
          <a:xfrm>
            <a:off x="635000" y="4229100"/>
            <a:ext cx="2032000" cy="1295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257075-1F64-2D99-B511-3FDBDA927616}"/>
              </a:ext>
            </a:extLst>
          </p:cNvPr>
          <p:cNvSpPr/>
          <p:nvPr/>
        </p:nvSpPr>
        <p:spPr>
          <a:xfrm>
            <a:off x="635000" y="4229100"/>
            <a:ext cx="2032000" cy="406400"/>
          </a:xfrm>
          <a:prstGeom prst="roundRect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F6297D-680E-6AFA-030F-4387B6B065C4}"/>
              </a:ext>
            </a:extLst>
          </p:cNvPr>
          <p:cNvSpPr txBox="1"/>
          <p:nvPr/>
        </p:nvSpPr>
        <p:spPr>
          <a:xfrm>
            <a:off x="787400" y="4330700"/>
            <a:ext cx="172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3C91ED-D8E9-9B94-9B8D-61CAF37EF290}"/>
              </a:ext>
            </a:extLst>
          </p:cNvPr>
          <p:cNvSpPr txBox="1"/>
          <p:nvPr/>
        </p:nvSpPr>
        <p:spPr>
          <a:xfrm>
            <a:off x="787400" y="47498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PK user_id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DBCC6-8D3D-A99C-2AC0-8A49F33579E4}"/>
              </a:ext>
            </a:extLst>
          </p:cNvPr>
          <p:cNvSpPr txBox="1"/>
          <p:nvPr/>
        </p:nvSpPr>
        <p:spPr>
          <a:xfrm>
            <a:off x="787400" y="49784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email · password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4DCD5-D615-3783-3519-6C7392D5B8E8}"/>
              </a:ext>
            </a:extLst>
          </p:cNvPr>
          <p:cNvSpPr txBox="1"/>
          <p:nvPr/>
        </p:nvSpPr>
        <p:spPr>
          <a:xfrm>
            <a:off x="787400" y="52070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role: admin / staff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FD6653-F9AF-BDE5-D430-DF565DF7446E}"/>
              </a:ext>
            </a:extLst>
          </p:cNvPr>
          <p:cNvSpPr/>
          <p:nvPr/>
        </p:nvSpPr>
        <p:spPr>
          <a:xfrm>
            <a:off x="3492500" y="1816100"/>
            <a:ext cx="2032000" cy="17526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9AFA32-1037-178E-2B01-169929A9968F}"/>
              </a:ext>
            </a:extLst>
          </p:cNvPr>
          <p:cNvSpPr/>
          <p:nvPr/>
        </p:nvSpPr>
        <p:spPr>
          <a:xfrm>
            <a:off x="3492500" y="1816100"/>
            <a:ext cx="2032000" cy="406400"/>
          </a:xfrm>
          <a:prstGeom prst="round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E9AAE5-199D-7C9A-0B7E-5225F74E84AF}"/>
              </a:ext>
            </a:extLst>
          </p:cNvPr>
          <p:cNvSpPr txBox="1"/>
          <p:nvPr/>
        </p:nvSpPr>
        <p:spPr>
          <a:xfrm>
            <a:off x="3644900" y="1917700"/>
            <a:ext cx="172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rental_requests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FB76ED-7126-2971-FD20-5F522B8AB8A3}"/>
              </a:ext>
            </a:extLst>
          </p:cNvPr>
          <p:cNvSpPr txBox="1"/>
          <p:nvPr/>
        </p:nvSpPr>
        <p:spPr>
          <a:xfrm>
            <a:off x="3644900" y="23368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PK request_id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2FDA0-526B-C93C-5DA2-92D9A787CADA}"/>
              </a:ext>
            </a:extLst>
          </p:cNvPr>
          <p:cNvSpPr txBox="1"/>
          <p:nvPr/>
        </p:nvSpPr>
        <p:spPr>
          <a:xfrm>
            <a:off x="3644900" y="25654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customer_id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165E5-06E7-3D86-78D5-057516B83DE4}"/>
              </a:ext>
            </a:extLst>
          </p:cNvPr>
          <p:cNvSpPr txBox="1"/>
          <p:nvPr/>
        </p:nvSpPr>
        <p:spPr>
          <a:xfrm>
            <a:off x="3644900" y="27940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car_id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632CCB-63F5-791A-84C7-3D19E8E18511}"/>
              </a:ext>
            </a:extLst>
          </p:cNvPr>
          <p:cNvSpPr txBox="1"/>
          <p:nvPr/>
        </p:nvSpPr>
        <p:spPr>
          <a:xfrm>
            <a:off x="3644900" y="30226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start_date · end_date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48F3DE-2984-0D9A-AC60-1ED1C81D7FD6}"/>
              </a:ext>
            </a:extLst>
          </p:cNvPr>
          <p:cNvSpPr txBox="1"/>
          <p:nvPr/>
        </p:nvSpPr>
        <p:spPr>
          <a:xfrm>
            <a:off x="3644900" y="32512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status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C919DE7-4F44-8D4E-70F3-266F9FA6A83D}"/>
              </a:ext>
            </a:extLst>
          </p:cNvPr>
          <p:cNvSpPr/>
          <p:nvPr/>
        </p:nvSpPr>
        <p:spPr>
          <a:xfrm>
            <a:off x="6413500" y="1816100"/>
            <a:ext cx="2032000" cy="15240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B889B30-8D3C-48F1-B367-F5CBF0193FFE}"/>
              </a:ext>
            </a:extLst>
          </p:cNvPr>
          <p:cNvSpPr/>
          <p:nvPr/>
        </p:nvSpPr>
        <p:spPr>
          <a:xfrm>
            <a:off x="6413500" y="1816100"/>
            <a:ext cx="2032000" cy="4064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89040E-9F8F-2006-5F38-F1E1589BD023}"/>
              </a:ext>
            </a:extLst>
          </p:cNvPr>
          <p:cNvSpPr txBox="1"/>
          <p:nvPr/>
        </p:nvSpPr>
        <p:spPr>
          <a:xfrm>
            <a:off x="6565900" y="1917700"/>
            <a:ext cx="172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cars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055201-333E-A2C9-6FFA-4076BE57837D}"/>
              </a:ext>
            </a:extLst>
          </p:cNvPr>
          <p:cNvSpPr txBox="1"/>
          <p:nvPr/>
        </p:nvSpPr>
        <p:spPr>
          <a:xfrm>
            <a:off x="6565900" y="23368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PK car_id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AC013F-6265-971F-6020-577A895A931F}"/>
              </a:ext>
            </a:extLst>
          </p:cNvPr>
          <p:cNvSpPr txBox="1"/>
          <p:nvPr/>
        </p:nvSpPr>
        <p:spPr>
          <a:xfrm>
            <a:off x="6565900" y="25654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license_plate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08E6E-B183-E438-27D6-4161BAE683D0}"/>
              </a:ext>
            </a:extLst>
          </p:cNvPr>
          <p:cNvSpPr txBox="1"/>
          <p:nvPr/>
        </p:nvSpPr>
        <p:spPr>
          <a:xfrm>
            <a:off x="6565900" y="27940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price_per_day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D85D3D-A59C-EF04-A25F-16E25B6B7BFD}"/>
              </a:ext>
            </a:extLst>
          </p:cNvPr>
          <p:cNvSpPr txBox="1"/>
          <p:nvPr/>
        </p:nvSpPr>
        <p:spPr>
          <a:xfrm>
            <a:off x="6565900" y="30226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status · seats · fuel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687116-C215-A64B-DE19-A7C40DB6D830}"/>
              </a:ext>
            </a:extLst>
          </p:cNvPr>
          <p:cNvSpPr/>
          <p:nvPr/>
        </p:nvSpPr>
        <p:spPr>
          <a:xfrm>
            <a:off x="6413500" y="4318000"/>
            <a:ext cx="2032000" cy="15240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4E6F988-C0C3-BC30-7B9A-0365E3C01FDA}"/>
              </a:ext>
            </a:extLst>
          </p:cNvPr>
          <p:cNvSpPr/>
          <p:nvPr/>
        </p:nvSpPr>
        <p:spPr>
          <a:xfrm>
            <a:off x="6413500" y="4318000"/>
            <a:ext cx="2032000" cy="406400"/>
          </a:xfrm>
          <a:prstGeom prst="roundRect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52CB34-94A1-B23E-11DF-6DA717DEECA5}"/>
              </a:ext>
            </a:extLst>
          </p:cNvPr>
          <p:cNvSpPr txBox="1"/>
          <p:nvPr/>
        </p:nvSpPr>
        <p:spPr>
          <a:xfrm>
            <a:off x="6565900" y="4419600"/>
            <a:ext cx="172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payments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821E5C-D807-6568-B7F9-A9CF8CEF081F}"/>
              </a:ext>
            </a:extLst>
          </p:cNvPr>
          <p:cNvSpPr txBox="1"/>
          <p:nvPr/>
        </p:nvSpPr>
        <p:spPr>
          <a:xfrm>
            <a:off x="6565900" y="48387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PK payment_id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508722-BFA9-447B-DDCE-D1EA72E6B734}"/>
              </a:ext>
            </a:extLst>
          </p:cNvPr>
          <p:cNvSpPr txBox="1"/>
          <p:nvPr/>
        </p:nvSpPr>
        <p:spPr>
          <a:xfrm>
            <a:off x="6565900" y="50673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request_id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2FCCE7-B5FB-3E27-5A02-96C0820AB952}"/>
              </a:ext>
            </a:extLst>
          </p:cNvPr>
          <p:cNvSpPr txBox="1"/>
          <p:nvPr/>
        </p:nvSpPr>
        <p:spPr>
          <a:xfrm>
            <a:off x="6565900" y="52959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contract_id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70F9E0-DEBE-BBA3-AD86-2511909B15AB}"/>
              </a:ext>
            </a:extLst>
          </p:cNvPr>
          <p:cNvSpPr txBox="1"/>
          <p:nvPr/>
        </p:nvSpPr>
        <p:spPr>
          <a:xfrm>
            <a:off x="6565900" y="5524500"/>
            <a:ext cx="172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amount · type · status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13703C6-3D4B-9A20-E923-5AFF6BBC4539}"/>
              </a:ext>
            </a:extLst>
          </p:cNvPr>
          <p:cNvSpPr/>
          <p:nvPr/>
        </p:nvSpPr>
        <p:spPr>
          <a:xfrm>
            <a:off x="9334500" y="1816100"/>
            <a:ext cx="2235200" cy="15240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0C90FDA-0B3F-F986-525E-2CC33BCEE689}"/>
              </a:ext>
            </a:extLst>
          </p:cNvPr>
          <p:cNvSpPr/>
          <p:nvPr/>
        </p:nvSpPr>
        <p:spPr>
          <a:xfrm>
            <a:off x="9334500" y="1816100"/>
            <a:ext cx="2235200" cy="406400"/>
          </a:xfrm>
          <a:prstGeom prst="round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A9C8C0-5FD0-254F-3C1D-C24E29CCFB7D}"/>
              </a:ext>
            </a:extLst>
          </p:cNvPr>
          <p:cNvSpPr txBox="1"/>
          <p:nvPr/>
        </p:nvSpPr>
        <p:spPr>
          <a:xfrm>
            <a:off x="9486900" y="1917700"/>
            <a:ext cx="193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contracts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D64143-1D05-3AC3-E43C-861097B3DE4A}"/>
              </a:ext>
            </a:extLst>
          </p:cNvPr>
          <p:cNvSpPr txBox="1"/>
          <p:nvPr/>
        </p:nvSpPr>
        <p:spPr>
          <a:xfrm>
            <a:off x="9486900" y="23368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PK contract_id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57A4D3-2B60-D83E-D375-2724AEAE2419}"/>
              </a:ext>
            </a:extLst>
          </p:cNvPr>
          <p:cNvSpPr txBox="1"/>
          <p:nvPr/>
        </p:nvSpPr>
        <p:spPr>
          <a:xfrm>
            <a:off x="9486900" y="25654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request_id (unique)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4AF694-788E-BCBE-6C8B-8DA4CA917FB0}"/>
              </a:ext>
            </a:extLst>
          </p:cNvPr>
          <p:cNvSpPr txBox="1"/>
          <p:nvPr/>
        </p:nvSpPr>
        <p:spPr>
          <a:xfrm>
            <a:off x="9486900" y="27940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customer_id · car_id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AF2EE4-BD89-942F-9A61-AADE95EAE2DB}"/>
              </a:ext>
            </a:extLst>
          </p:cNvPr>
          <p:cNvSpPr txBox="1"/>
          <p:nvPr/>
        </p:nvSpPr>
        <p:spPr>
          <a:xfrm>
            <a:off x="9486900" y="30226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total_price · status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4238875-FB6E-7EBB-97E3-35C46DFDDA00}"/>
              </a:ext>
            </a:extLst>
          </p:cNvPr>
          <p:cNvSpPr/>
          <p:nvPr/>
        </p:nvSpPr>
        <p:spPr>
          <a:xfrm>
            <a:off x="9334500" y="4495800"/>
            <a:ext cx="2235200" cy="15240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0F72D44-73DF-D7FF-9778-ABDF843C2F38}"/>
              </a:ext>
            </a:extLst>
          </p:cNvPr>
          <p:cNvSpPr/>
          <p:nvPr/>
        </p:nvSpPr>
        <p:spPr>
          <a:xfrm>
            <a:off x="9334500" y="4495800"/>
            <a:ext cx="2235200" cy="4064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3F0E84-A27D-E5A3-7E3C-AAC87E4A7835}"/>
              </a:ext>
            </a:extLst>
          </p:cNvPr>
          <p:cNvSpPr txBox="1"/>
          <p:nvPr/>
        </p:nvSpPr>
        <p:spPr>
          <a:xfrm>
            <a:off x="9486900" y="4597400"/>
            <a:ext cx="193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41710"/>
                </a:solidFill>
                <a:latin typeface="Aptos" panose="020B0004020202020204" pitchFamily="34" charset="0"/>
              </a:rPr>
              <a:t>support_chat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70AAB5-0D82-F767-2A41-12DB805F774B}"/>
              </a:ext>
            </a:extLst>
          </p:cNvPr>
          <p:cNvSpPr txBox="1"/>
          <p:nvPr/>
        </p:nvSpPr>
        <p:spPr>
          <a:xfrm>
            <a:off x="9486900" y="50165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conversation_id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EF1118-E152-5ED8-AAEB-5E7CFDE22CCC}"/>
              </a:ext>
            </a:extLst>
          </p:cNvPr>
          <p:cNvSpPr txBox="1"/>
          <p:nvPr/>
        </p:nvSpPr>
        <p:spPr>
          <a:xfrm>
            <a:off x="9486900" y="52451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FK customer_id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C686A8-34AC-E53A-6AF5-96FF9C2A3315}"/>
              </a:ext>
            </a:extLst>
          </p:cNvPr>
          <p:cNvSpPr txBox="1"/>
          <p:nvPr/>
        </p:nvSpPr>
        <p:spPr>
          <a:xfrm>
            <a:off x="9486900" y="54737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messages · sender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C81341-9B20-0418-C667-7D683A712D98}"/>
              </a:ext>
            </a:extLst>
          </p:cNvPr>
          <p:cNvSpPr txBox="1"/>
          <p:nvPr/>
        </p:nvSpPr>
        <p:spPr>
          <a:xfrm>
            <a:off x="9486900" y="57023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C1C9B8"/>
                </a:solidFill>
                <a:latin typeface="Aptos" panose="020B0004020202020204" pitchFamily="34" charset="0"/>
              </a:rPr>
              <a:t>read status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A275CFD-A72E-9652-74B4-F8D354EC20A1}"/>
              </a:ext>
            </a:extLst>
          </p:cNvPr>
          <p:cNvCxnSpPr/>
          <p:nvPr/>
        </p:nvCxnSpPr>
        <p:spPr>
          <a:xfrm>
            <a:off x="2667000" y="2489200"/>
            <a:ext cx="8255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D2DDC67-BF20-401E-0C59-1D09973F461F}"/>
              </a:ext>
            </a:extLst>
          </p:cNvPr>
          <p:cNvCxnSpPr/>
          <p:nvPr/>
        </p:nvCxnSpPr>
        <p:spPr>
          <a:xfrm>
            <a:off x="5524500" y="2489200"/>
            <a:ext cx="8890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F999946-B913-7FD4-9668-F745C3F9196C}"/>
              </a:ext>
            </a:extLst>
          </p:cNvPr>
          <p:cNvCxnSpPr/>
          <p:nvPr/>
        </p:nvCxnSpPr>
        <p:spPr>
          <a:xfrm>
            <a:off x="5524500" y="2857500"/>
            <a:ext cx="3810000" cy="0"/>
          </a:xfrm>
          <a:prstGeom prst="line">
            <a:avLst/>
          </a:prstGeom>
          <a:ln w="25400">
            <a:solidFill>
              <a:srgbClr val="FFB24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42346E4-D4B1-D405-EED1-B2405AD8D31A}"/>
              </a:ext>
            </a:extLst>
          </p:cNvPr>
          <p:cNvCxnSpPr/>
          <p:nvPr/>
        </p:nvCxnSpPr>
        <p:spPr>
          <a:xfrm>
            <a:off x="8445500" y="2463800"/>
            <a:ext cx="8890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055102F-1DA6-8897-2C8A-0D7CE0BFD463}"/>
              </a:ext>
            </a:extLst>
          </p:cNvPr>
          <p:cNvCxnSpPr/>
          <p:nvPr/>
        </p:nvCxnSpPr>
        <p:spPr>
          <a:xfrm>
            <a:off x="7429500" y="3403600"/>
            <a:ext cx="0" cy="914400"/>
          </a:xfrm>
          <a:prstGeom prst="line">
            <a:avLst/>
          </a:prstGeom>
          <a:ln w="25400">
            <a:solidFill>
              <a:srgbClr val="4FB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52DBEAB-35D3-939F-CD66-7C0A4D8464BB}"/>
              </a:ext>
            </a:extLst>
          </p:cNvPr>
          <p:cNvCxnSpPr/>
          <p:nvPr/>
        </p:nvCxnSpPr>
        <p:spPr>
          <a:xfrm>
            <a:off x="10452100" y="3429000"/>
            <a:ext cx="0" cy="889000"/>
          </a:xfrm>
          <a:prstGeom prst="line">
            <a:avLst/>
          </a:prstGeom>
          <a:ln w="25400">
            <a:solidFill>
              <a:srgbClr val="4FB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D7DF45-C2AA-58D3-9340-10ED2F053233}"/>
              </a:ext>
            </a:extLst>
          </p:cNvPr>
          <p:cNvCxnSpPr/>
          <p:nvPr/>
        </p:nvCxnSpPr>
        <p:spPr>
          <a:xfrm>
            <a:off x="1651000" y="3327400"/>
            <a:ext cx="0" cy="736600"/>
          </a:xfrm>
          <a:prstGeom prst="line">
            <a:avLst/>
          </a:prstGeom>
          <a:ln w="25400">
            <a:solidFill>
              <a:srgbClr val="00E6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4BFE1D-6575-7058-4C5B-E9039EF74662}"/>
              </a:ext>
            </a:extLst>
          </p:cNvPr>
          <p:cNvCxnSpPr/>
          <p:nvPr/>
        </p:nvCxnSpPr>
        <p:spPr>
          <a:xfrm>
            <a:off x="1651000" y="4064000"/>
            <a:ext cx="76835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22912E-29C6-F3D4-4547-A83DAC9C2A9D}"/>
              </a:ext>
            </a:extLst>
          </p:cNvPr>
          <p:cNvSpPr txBox="1"/>
          <p:nvPr/>
        </p:nvSpPr>
        <p:spPr>
          <a:xfrm>
            <a:off x="3492500" y="6172200"/>
            <a:ext cx="685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Quan hệ trung tâm: Customer + Car → Rental Request → Payment → Contract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E0083B-7DEB-E49D-B23D-129D746ACC27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96184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97CCE5-740C-A03D-B2F1-FB071111B283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9004E-B8AA-E223-3019-9DF07DB887D3}"/>
              </a:ext>
            </a:extLst>
          </p:cNvPr>
          <p:cNvSpPr txBox="1"/>
          <p:nvPr/>
        </p:nvSpPr>
        <p:spPr>
          <a:xfrm>
            <a:off x="673100" y="431056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141710"/>
                </a:solidFill>
                <a:latin typeface="Aptos" panose="020B0004020202020204" pitchFamily="34" charset="0"/>
              </a:rPr>
              <a:t>TRIỂN KHAI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0DB4D-9B03-D97C-B706-F2F04B9FB580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FFFFFF"/>
                </a:solidFill>
                <a:latin typeface="Aptos" panose="020B0004020202020204" pitchFamily="34" charset="0"/>
              </a:rPr>
              <a:t>Giao diện người dùng và danh mục xe</a:t>
            </a:r>
            <a:endParaRPr lang="en-US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F29D3-5F2F-B5C1-5FDB-C00BDEB6C28A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44F52C-4F1C-D002-D32D-53AF6AAE9FF9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214D60-B53D-B051-1E75-960CEA2E24C9}"/>
              </a:ext>
            </a:extLst>
          </p:cNvPr>
          <p:cNvSpPr/>
          <p:nvPr/>
        </p:nvSpPr>
        <p:spPr>
          <a:xfrm>
            <a:off x="609600" y="1778000"/>
            <a:ext cx="5334000" cy="3606800"/>
          </a:xfrm>
          <a:prstGeom prst="roundRect">
            <a:avLst>
              <a:gd name="adj" fmla="val 1174"/>
            </a:avLst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0A220-4DF9-61ED-CFAD-F3A0B9BEC5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30400"/>
            <a:ext cx="5029200" cy="31369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37A41A-8A5E-6525-1C59-D3657096178F}"/>
              </a:ext>
            </a:extLst>
          </p:cNvPr>
          <p:cNvSpPr/>
          <p:nvPr/>
        </p:nvSpPr>
        <p:spPr>
          <a:xfrm>
            <a:off x="762000" y="5016500"/>
            <a:ext cx="14732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20666-AF1B-2CEA-7117-5890C19BD771}"/>
              </a:ext>
            </a:extLst>
          </p:cNvPr>
          <p:cNvSpPr txBox="1"/>
          <p:nvPr/>
        </p:nvSpPr>
        <p:spPr>
          <a:xfrm>
            <a:off x="825500" y="5091956"/>
            <a:ext cx="129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141710"/>
                </a:solidFill>
                <a:latin typeface="Aptos" panose="020B0004020202020204" pitchFamily="34" charset="0"/>
              </a:rPr>
              <a:t>01 · TRANG CHỦ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BBB94F-E1C9-CB48-FB9D-BB6FB7247988}"/>
              </a:ext>
            </a:extLst>
          </p:cNvPr>
          <p:cNvSpPr/>
          <p:nvPr/>
        </p:nvSpPr>
        <p:spPr>
          <a:xfrm>
            <a:off x="6248400" y="1778000"/>
            <a:ext cx="5334000" cy="3606800"/>
          </a:xfrm>
          <a:prstGeom prst="roundRect">
            <a:avLst>
              <a:gd name="adj" fmla="val 0"/>
            </a:avLst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71A12C-9BDD-87E9-B09E-574BFE845BB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930400"/>
            <a:ext cx="5029200" cy="31369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3C23FE-012F-E831-4853-DD3F527C8542}"/>
              </a:ext>
            </a:extLst>
          </p:cNvPr>
          <p:cNvSpPr/>
          <p:nvPr/>
        </p:nvSpPr>
        <p:spPr>
          <a:xfrm>
            <a:off x="6400800" y="5016500"/>
            <a:ext cx="17018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BF21E5-A2D4-637B-BDE7-442E251B7F59}"/>
              </a:ext>
            </a:extLst>
          </p:cNvPr>
          <p:cNvSpPr txBox="1"/>
          <p:nvPr/>
        </p:nvSpPr>
        <p:spPr>
          <a:xfrm>
            <a:off x="6489700" y="5091956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141710"/>
                </a:solidFill>
                <a:latin typeface="Aptos" panose="020B0004020202020204" pitchFamily="34" charset="0"/>
              </a:rPr>
              <a:t>02 · TÌM &amp; LỌC XE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DA2E13-AA68-1861-46C8-B2B2920F1A98}"/>
              </a:ext>
            </a:extLst>
          </p:cNvPr>
          <p:cNvSpPr/>
          <p:nvPr/>
        </p:nvSpPr>
        <p:spPr>
          <a:xfrm>
            <a:off x="609600" y="5626100"/>
            <a:ext cx="33528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DAC7E-CE02-D4F4-2E79-4E20F770D856}"/>
              </a:ext>
            </a:extLst>
          </p:cNvPr>
          <p:cNvSpPr/>
          <p:nvPr/>
        </p:nvSpPr>
        <p:spPr>
          <a:xfrm>
            <a:off x="609600" y="5626100"/>
            <a:ext cx="63500" cy="711200"/>
          </a:xfrm>
          <a:prstGeom prst="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CD705F-A578-65D7-C9F3-F97528316CAA}"/>
              </a:ext>
            </a:extLst>
          </p:cNvPr>
          <p:cNvSpPr txBox="1"/>
          <p:nvPr/>
        </p:nvSpPr>
        <p:spPr>
          <a:xfrm>
            <a:off x="838200" y="58293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Responsive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A1860A-A73F-3383-5233-880DA05CA79E}"/>
              </a:ext>
            </a:extLst>
          </p:cNvPr>
          <p:cNvSpPr txBox="1"/>
          <p:nvPr/>
        </p:nvSpPr>
        <p:spPr>
          <a:xfrm>
            <a:off x="838200" y="6070600"/>
            <a:ext cx="292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800">
                <a:solidFill>
                  <a:srgbClr val="C1C9B8"/>
                </a:solidFill>
                <a:latin typeface="Aptos" panose="020B0004020202020204" pitchFamily="34" charset="0"/>
              </a:rPr>
              <a:t>Tối ưu trải nghiệm trên nhiều kích thước màn hình.</a:t>
            </a:r>
            <a:endParaRPr lang="en-US" sz="800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933509-3EF9-1995-95AE-1B50AC006CC0}"/>
              </a:ext>
            </a:extLst>
          </p:cNvPr>
          <p:cNvSpPr/>
          <p:nvPr/>
        </p:nvSpPr>
        <p:spPr>
          <a:xfrm>
            <a:off x="4165600" y="5626100"/>
            <a:ext cx="35814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597DC5-AAE4-A1E3-76B7-1A6ED671B2DA}"/>
              </a:ext>
            </a:extLst>
          </p:cNvPr>
          <p:cNvSpPr/>
          <p:nvPr/>
        </p:nvSpPr>
        <p:spPr>
          <a:xfrm>
            <a:off x="4165600" y="5626100"/>
            <a:ext cx="63500" cy="711200"/>
          </a:xfrm>
          <a:prstGeom prst="rect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1B3676-04F5-C126-933D-94086FF382F0}"/>
              </a:ext>
            </a:extLst>
          </p:cNvPr>
          <p:cNvSpPr txBox="1"/>
          <p:nvPr/>
        </p:nvSpPr>
        <p:spPr>
          <a:xfrm>
            <a:off x="4394200" y="58293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Bộ lọc đa tiêu chí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9786E1-7904-5D75-2EB5-2478591FE744}"/>
              </a:ext>
            </a:extLst>
          </p:cNvPr>
          <p:cNvSpPr txBox="1"/>
          <p:nvPr/>
        </p:nvSpPr>
        <p:spPr>
          <a:xfrm>
            <a:off x="4394200" y="6070600"/>
            <a:ext cx="3149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C1C9B8"/>
                </a:solidFill>
                <a:latin typeface="Aptos" panose="020B0004020202020204" pitchFamily="34" charset="0"/>
              </a:rPr>
              <a:t>Hãng xe, số chỗ, hộp số, mức giá và trạng thái.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A324DBE-851A-6A49-4149-50A5169AFDD9}"/>
              </a:ext>
            </a:extLst>
          </p:cNvPr>
          <p:cNvSpPr/>
          <p:nvPr/>
        </p:nvSpPr>
        <p:spPr>
          <a:xfrm>
            <a:off x="7950200" y="5626100"/>
            <a:ext cx="3632200" cy="711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271C68-A601-FF67-ACC2-26F54B098A8A}"/>
              </a:ext>
            </a:extLst>
          </p:cNvPr>
          <p:cNvSpPr/>
          <p:nvPr/>
        </p:nvSpPr>
        <p:spPr>
          <a:xfrm>
            <a:off x="7950200" y="5626100"/>
            <a:ext cx="63500" cy="711200"/>
          </a:xfrm>
          <a:prstGeom prst="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961CF6-A6A7-6D2A-DACE-94169A54E2C9}"/>
              </a:ext>
            </a:extLst>
          </p:cNvPr>
          <p:cNvSpPr txBox="1"/>
          <p:nvPr/>
        </p:nvSpPr>
        <p:spPr>
          <a:xfrm>
            <a:off x="8178800" y="582930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Thông tin trực quan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06F85B-A75E-DC53-11F2-5D6FEE76CF0C}"/>
              </a:ext>
            </a:extLst>
          </p:cNvPr>
          <p:cNvSpPr txBox="1"/>
          <p:nvPr/>
        </p:nvSpPr>
        <p:spPr>
          <a:xfrm>
            <a:off x="8178800" y="6070600"/>
            <a:ext cx="3200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C1C9B8"/>
                </a:solidFill>
                <a:latin typeface="Aptos" panose="020B0004020202020204" pitchFamily="34" charset="0"/>
              </a:rPr>
              <a:t>Ảnh xe, giá/ngày, chi tiết và nút đặt xe nổi bật.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8F6FD4-B04B-6F2B-B853-3E79BB92D912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29464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7B8DA4-B209-5E8E-B870-72C380BF49C9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16448-1C5F-EE42-727B-D9669C5D6BD8}"/>
              </a:ext>
            </a:extLst>
          </p:cNvPr>
          <p:cNvSpPr txBox="1"/>
          <p:nvPr/>
        </p:nvSpPr>
        <p:spPr>
          <a:xfrm>
            <a:off x="635000" y="431056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141710"/>
                </a:solidFill>
                <a:latin typeface="Aptos" panose="020B0004020202020204" pitchFamily="34" charset="0"/>
              </a:rPr>
              <a:t>THUẬT TOÁN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19843-D782-97EE-CAAD-D8A90C1FD01E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Chống trùng lịch &amp; tính tiền giữ chỗ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18A11-2627-90C1-1416-E23040EC914B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77C3F2-CC40-2961-850C-B6F047535ED5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F6AAFF-B5C0-148F-6BFB-8AEF46B1A65A}"/>
              </a:ext>
            </a:extLst>
          </p:cNvPr>
          <p:cNvSpPr/>
          <p:nvPr/>
        </p:nvSpPr>
        <p:spPr>
          <a:xfrm>
            <a:off x="635000" y="1803400"/>
            <a:ext cx="5257800" cy="4165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EDA4E-C976-86FF-4F49-09E312A8E545}"/>
              </a:ext>
            </a:extLst>
          </p:cNvPr>
          <p:cNvSpPr txBox="1"/>
          <p:nvPr/>
        </p:nvSpPr>
        <p:spPr>
          <a:xfrm>
            <a:off x="914400" y="20574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0E698"/>
                </a:solidFill>
                <a:latin typeface="Aptos" panose="020B0004020202020204" pitchFamily="34" charset="0"/>
              </a:rPr>
              <a:t>A · KIỂM TRA GIAO NHAU KHOẢNG NGÀY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FF667-C2A1-E4CE-5C5C-BCBD67A02819}"/>
              </a:ext>
            </a:extLst>
          </p:cNvPr>
          <p:cNvSpPr txBox="1"/>
          <p:nvPr/>
        </p:nvSpPr>
        <p:spPr>
          <a:xfrm>
            <a:off x="914400" y="25654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1C9B8"/>
                </a:solidFill>
                <a:latin typeface="Aptos" panose="020B0004020202020204" pitchFamily="34" charset="0"/>
              </a:rPr>
              <a:t>Có trùng lịch khi: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4319BB5-B5B3-779F-3BD0-429F14EB30E1}"/>
              </a:ext>
            </a:extLst>
          </p:cNvPr>
          <p:cNvSpPr/>
          <p:nvPr/>
        </p:nvSpPr>
        <p:spPr>
          <a:xfrm>
            <a:off x="914400" y="2946400"/>
            <a:ext cx="4648200" cy="736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C7CB2-3724-61A6-C3D5-8CBAACD3C3AC}"/>
              </a:ext>
            </a:extLst>
          </p:cNvPr>
          <p:cNvSpPr txBox="1"/>
          <p:nvPr/>
        </p:nvSpPr>
        <p:spPr>
          <a:xfrm>
            <a:off x="1143000" y="3098800"/>
            <a:ext cx="419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onsolas" panose="020B0609020204030204" pitchFamily="49" charset="0"/>
              </a:rPr>
              <a:t>start_existing ≤ end_new
AND  end_existing ≥ start_new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B3D571-BC4F-79F7-DA59-9B1094F1EE4B}"/>
              </a:ext>
            </a:extLst>
          </p:cNvPr>
          <p:cNvSpPr/>
          <p:nvPr/>
        </p:nvSpPr>
        <p:spPr>
          <a:xfrm>
            <a:off x="1143000" y="3987800"/>
            <a:ext cx="4064000" cy="3429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83FEC-8366-7CCA-6E70-DBBD2C84E00D}"/>
              </a:ext>
            </a:extLst>
          </p:cNvPr>
          <p:cNvSpPr txBox="1"/>
          <p:nvPr/>
        </p:nvSpPr>
        <p:spPr>
          <a:xfrm>
            <a:off x="1270000" y="40767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Kiểm tra ngày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5948DB-9145-C90A-D635-19A969233858}"/>
              </a:ext>
            </a:extLst>
          </p:cNvPr>
          <p:cNvSpPr/>
          <p:nvPr/>
        </p:nvSpPr>
        <p:spPr>
          <a:xfrm>
            <a:off x="1143000" y="4381500"/>
            <a:ext cx="4064000" cy="3429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56DF4-DCC2-2661-B3CB-6F8E07914315}"/>
              </a:ext>
            </a:extLst>
          </p:cNvPr>
          <p:cNvSpPr txBox="1"/>
          <p:nvPr/>
        </p:nvSpPr>
        <p:spPr>
          <a:xfrm>
            <a:off x="1270000" y="4470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Kiểm tra trạng thái xe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64D1BE-A294-A8B5-8292-8C6380CAFAFD}"/>
              </a:ext>
            </a:extLst>
          </p:cNvPr>
          <p:cNvSpPr/>
          <p:nvPr/>
        </p:nvSpPr>
        <p:spPr>
          <a:xfrm>
            <a:off x="1143000" y="4775200"/>
            <a:ext cx="4064000" cy="3429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85707-E926-11C4-1125-FD9E2214ADA0}"/>
              </a:ext>
            </a:extLst>
          </p:cNvPr>
          <p:cNvSpPr txBox="1"/>
          <p:nvPr/>
        </p:nvSpPr>
        <p:spPr>
          <a:xfrm>
            <a:off x="1270000" y="48641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Kiểm tra lịch của xe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F24DD3-67A7-B868-CA2D-E0F6CF60B623}"/>
              </a:ext>
            </a:extLst>
          </p:cNvPr>
          <p:cNvSpPr/>
          <p:nvPr/>
        </p:nvSpPr>
        <p:spPr>
          <a:xfrm>
            <a:off x="1143000" y="5168900"/>
            <a:ext cx="4064000" cy="3429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B1227F-9302-DBBE-E783-A131DA9A405B}"/>
              </a:ext>
            </a:extLst>
          </p:cNvPr>
          <p:cNvSpPr txBox="1"/>
          <p:nvPr/>
        </p:nvSpPr>
        <p:spPr>
          <a:xfrm>
            <a:off x="1270000" y="52578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Kiểm tra lịch của khách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B74C0C-2639-D40F-62DF-220619738FC6}"/>
              </a:ext>
            </a:extLst>
          </p:cNvPr>
          <p:cNvSpPr/>
          <p:nvPr/>
        </p:nvSpPr>
        <p:spPr>
          <a:xfrm>
            <a:off x="1143000" y="5562600"/>
            <a:ext cx="4064000" cy="3429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651DF-C5FB-5835-BBC3-AD2AF4A49FCD}"/>
              </a:ext>
            </a:extLst>
          </p:cNvPr>
          <p:cNvSpPr txBox="1"/>
          <p:nvPr/>
        </p:nvSpPr>
        <p:spPr>
          <a:xfrm>
            <a:off x="1270000" y="56515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41710"/>
                </a:solidFill>
                <a:latin typeface="Aptos" panose="020B0004020202020204" pitchFamily="34" charset="0"/>
              </a:rPr>
              <a:t>Tạo yêu cầu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E92F1E-5BA7-0CF0-B33F-F8833E05B142}"/>
              </a:ext>
            </a:extLst>
          </p:cNvPr>
          <p:cNvSpPr/>
          <p:nvPr/>
        </p:nvSpPr>
        <p:spPr>
          <a:xfrm>
            <a:off x="6223000" y="1803400"/>
            <a:ext cx="5359400" cy="4165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A42E4E-CB95-0349-A788-0CD3C14132CB}"/>
              </a:ext>
            </a:extLst>
          </p:cNvPr>
          <p:cNvSpPr txBox="1"/>
          <p:nvPr/>
        </p:nvSpPr>
        <p:spPr>
          <a:xfrm>
            <a:off x="6502400" y="20574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00E698"/>
                </a:solidFill>
                <a:latin typeface="Aptos" panose="020B0004020202020204" pitchFamily="34" charset="0"/>
              </a:rPr>
              <a:t>B · CÔNG THỨC THANH TOÁN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B11C8A-84AB-D4F9-1C42-D50A4BA075EC}"/>
              </a:ext>
            </a:extLst>
          </p:cNvPr>
          <p:cNvSpPr txBox="1"/>
          <p:nvPr/>
        </p:nvSpPr>
        <p:spPr>
          <a:xfrm>
            <a:off x="6502400" y="2603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Số ngày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ABA4F2-859F-3EAA-21C9-75B851B87F54}"/>
              </a:ext>
            </a:extLst>
          </p:cNvPr>
          <p:cNvSpPr/>
          <p:nvPr/>
        </p:nvSpPr>
        <p:spPr>
          <a:xfrm>
            <a:off x="7747000" y="2540000"/>
            <a:ext cx="3479800" cy="3810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25386B-32ED-E106-5AE1-BE6A1A719A49}"/>
              </a:ext>
            </a:extLst>
          </p:cNvPr>
          <p:cNvSpPr txBox="1"/>
          <p:nvPr/>
        </p:nvSpPr>
        <p:spPr>
          <a:xfrm>
            <a:off x="7899400" y="26416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end_date − start_date + 1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70F62-1156-5514-ED4B-D7F52221AE7D}"/>
              </a:ext>
            </a:extLst>
          </p:cNvPr>
          <p:cNvSpPr txBox="1"/>
          <p:nvPr/>
        </p:nvSpPr>
        <p:spPr>
          <a:xfrm>
            <a:off x="6502400" y="31877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Phí thuê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B20D52-8236-6268-9D13-BC3236B53618}"/>
              </a:ext>
            </a:extLst>
          </p:cNvPr>
          <p:cNvSpPr/>
          <p:nvPr/>
        </p:nvSpPr>
        <p:spPr>
          <a:xfrm>
            <a:off x="7747000" y="3124200"/>
            <a:ext cx="3479800" cy="3810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3B6A3-642D-B0C8-1BCF-6FDAFBD8AB69}"/>
              </a:ext>
            </a:extLst>
          </p:cNvPr>
          <p:cNvSpPr txBox="1"/>
          <p:nvPr/>
        </p:nvSpPr>
        <p:spPr>
          <a:xfrm>
            <a:off x="7899400" y="32258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số ngày × giá thuê/ngày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185F1A-EC0C-8792-3469-4CFAD4C44278}"/>
              </a:ext>
            </a:extLst>
          </p:cNvPr>
          <p:cNvSpPr txBox="1"/>
          <p:nvPr/>
        </p:nvSpPr>
        <p:spPr>
          <a:xfrm>
            <a:off x="6502400" y="37719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Tổng tiền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0859C65-CF74-C7D3-9C53-C1CA76F4AF2F}"/>
              </a:ext>
            </a:extLst>
          </p:cNvPr>
          <p:cNvSpPr/>
          <p:nvPr/>
        </p:nvSpPr>
        <p:spPr>
          <a:xfrm>
            <a:off x="7747000" y="3708400"/>
            <a:ext cx="3479800" cy="3810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2FC2A8-09D4-43AC-2E07-D9BC8D8C3463}"/>
              </a:ext>
            </a:extLst>
          </p:cNvPr>
          <p:cNvSpPr txBox="1"/>
          <p:nvPr/>
        </p:nvSpPr>
        <p:spPr>
          <a:xfrm>
            <a:off x="7899400" y="38100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phí thuê + VAT 8%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4CFD1E-6D8A-4AF7-A6C0-25987654DC53}"/>
              </a:ext>
            </a:extLst>
          </p:cNvPr>
          <p:cNvSpPr txBox="1"/>
          <p:nvPr/>
        </p:nvSpPr>
        <p:spPr>
          <a:xfrm>
            <a:off x="6502400" y="43561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Giữ chỗ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0E1E6D7-D792-96B6-8867-74BF7625F7B0}"/>
              </a:ext>
            </a:extLst>
          </p:cNvPr>
          <p:cNvSpPr/>
          <p:nvPr/>
        </p:nvSpPr>
        <p:spPr>
          <a:xfrm>
            <a:off x="7747000" y="4292600"/>
            <a:ext cx="3479800" cy="3810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858B06-9961-12F0-C9AA-EEB757B053E2}"/>
              </a:ext>
            </a:extLst>
          </p:cNvPr>
          <p:cNvSpPr txBox="1"/>
          <p:nvPr/>
        </p:nvSpPr>
        <p:spPr>
          <a:xfrm>
            <a:off x="7899400" y="43942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max(20% tổng tiền, 300.000đ)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6765D9-D14B-7B91-A2B0-65E5E5AEC705}"/>
              </a:ext>
            </a:extLst>
          </p:cNvPr>
          <p:cNvSpPr txBox="1"/>
          <p:nvPr/>
        </p:nvSpPr>
        <p:spPr>
          <a:xfrm>
            <a:off x="6502400" y="49403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1C9B8"/>
                </a:solidFill>
                <a:latin typeface="Aptos" panose="020B0004020202020204" pitchFamily="34" charset="0"/>
              </a:rPr>
              <a:t>Còn lại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D7DF0F-F226-7E1A-DA3C-9D5ED063CEF5}"/>
              </a:ext>
            </a:extLst>
          </p:cNvPr>
          <p:cNvSpPr/>
          <p:nvPr/>
        </p:nvSpPr>
        <p:spPr>
          <a:xfrm>
            <a:off x="7747000" y="4876800"/>
            <a:ext cx="3479800" cy="3810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0FE1D7-0C9C-1CB7-39A6-2AF8F44E2498}"/>
              </a:ext>
            </a:extLst>
          </p:cNvPr>
          <p:cNvSpPr txBox="1"/>
          <p:nvPr/>
        </p:nvSpPr>
        <p:spPr>
          <a:xfrm>
            <a:off x="7899400" y="4978400"/>
            <a:ext cx="317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tổng tiền − tiền giữ chỗ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2A8587-2B2F-7DC4-F5C5-3590ADE391ED}"/>
              </a:ext>
            </a:extLst>
          </p:cNvPr>
          <p:cNvSpPr txBox="1"/>
          <p:nvPr/>
        </p:nvSpPr>
        <p:spPr>
          <a:xfrm>
            <a:off x="6502400" y="55245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0E698"/>
                </a:solidFill>
                <a:latin typeface="Aptos" panose="020B0004020202020204" pitchFamily="34" charset="0"/>
              </a:rPr>
              <a:t>Kết quả: giảm rủi ro double-booking và chuẩn hóa số tiền ở cả frontend lẫn backend.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B1E8C0-6ADC-4B51-4018-6C5A99D192B3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77391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804E81-6D28-FA07-C061-2B40C528416E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ACF0A-8414-897D-5A3F-3BB7315B6F73}"/>
              </a:ext>
            </a:extLst>
          </p:cNvPr>
          <p:cNvSpPr txBox="1"/>
          <p:nvPr/>
        </p:nvSpPr>
        <p:spPr>
          <a:xfrm>
            <a:off x="673100" y="424821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141710"/>
                </a:solidFill>
                <a:latin typeface="Aptos" panose="020B0004020202020204" pitchFamily="34" charset="0"/>
              </a:rPr>
              <a:t>KẾT QUẢ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BEEB7-6111-B26E-B1D7-FEC25D54B2A4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Kiểm thử kỹ thuật và mức độ hoàn thiện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A180E-3D82-7C0B-67B6-BAD7A2375C8A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1A14BF-0C8E-AEC2-93FD-6AD80844D2AE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30827E-1454-D98D-451C-FFFB5053EFAA}"/>
              </a:ext>
            </a:extLst>
          </p:cNvPr>
          <p:cNvSpPr/>
          <p:nvPr/>
        </p:nvSpPr>
        <p:spPr>
          <a:xfrm>
            <a:off x="635000" y="1803400"/>
            <a:ext cx="2565400" cy="13335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C7FF3-07EF-FEB5-4499-C9D916714DF3}"/>
              </a:ext>
            </a:extLst>
          </p:cNvPr>
          <p:cNvSpPr txBox="1"/>
          <p:nvPr/>
        </p:nvSpPr>
        <p:spPr>
          <a:xfrm>
            <a:off x="812800" y="2032000"/>
            <a:ext cx="2209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00E698"/>
                </a:solidFill>
                <a:latin typeface="Aptos" panose="020B0004020202020204" pitchFamily="34" charset="0"/>
              </a:rPr>
              <a:t>82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97BDD-D769-0059-0F25-FEC1F553C94D}"/>
              </a:ext>
            </a:extLst>
          </p:cNvPr>
          <p:cNvSpPr txBox="1"/>
          <p:nvPr/>
        </p:nvSpPr>
        <p:spPr>
          <a:xfrm>
            <a:off x="812800" y="2628900"/>
            <a:ext cx="2209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 b="1">
                <a:solidFill>
                  <a:srgbClr val="C1C9B8"/>
                </a:solidFill>
                <a:latin typeface="Aptos" panose="020B0004020202020204" pitchFamily="34" charset="0"/>
              </a:rPr>
              <a:t>module React được build</a:t>
            </a:r>
            <a:endParaRPr lang="en-US" sz="1000" b="1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AF42D6-0833-E652-7C1C-DC7022326412}"/>
              </a:ext>
            </a:extLst>
          </p:cNvPr>
          <p:cNvSpPr/>
          <p:nvPr/>
        </p:nvSpPr>
        <p:spPr>
          <a:xfrm>
            <a:off x="3429000" y="1803400"/>
            <a:ext cx="2565400" cy="13335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1ECEB-6476-B553-F586-03764E1B60CD}"/>
              </a:ext>
            </a:extLst>
          </p:cNvPr>
          <p:cNvSpPr txBox="1"/>
          <p:nvPr/>
        </p:nvSpPr>
        <p:spPr>
          <a:xfrm>
            <a:off x="3606800" y="2032000"/>
            <a:ext cx="2209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4FB0FF"/>
                </a:solidFill>
                <a:latin typeface="Aptos" panose="020B0004020202020204" pitchFamily="34" charset="0"/>
              </a:rPr>
              <a:t>0.825s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B2FB8A-A550-CB8E-B860-F460B3B82CBB}"/>
              </a:ext>
            </a:extLst>
          </p:cNvPr>
          <p:cNvSpPr txBox="1"/>
          <p:nvPr/>
        </p:nvSpPr>
        <p:spPr>
          <a:xfrm>
            <a:off x="3606800" y="2628900"/>
            <a:ext cx="2209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thời gian Vite build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BCBB70-4D58-3C68-DA76-BAAB106EAAD2}"/>
              </a:ext>
            </a:extLst>
          </p:cNvPr>
          <p:cNvSpPr/>
          <p:nvPr/>
        </p:nvSpPr>
        <p:spPr>
          <a:xfrm>
            <a:off x="6223000" y="1803400"/>
            <a:ext cx="2565400" cy="13335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CF014-BD98-47E7-D1CF-17EE29CD9684}"/>
              </a:ext>
            </a:extLst>
          </p:cNvPr>
          <p:cNvSpPr txBox="1"/>
          <p:nvPr/>
        </p:nvSpPr>
        <p:spPr>
          <a:xfrm>
            <a:off x="6400800" y="2032000"/>
            <a:ext cx="2209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FFB248"/>
                </a:solidFill>
                <a:latin typeface="Aptos" panose="020B0004020202020204" pitchFamily="34" charset="0"/>
              </a:rPr>
              <a:t>7/7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4AFFB-A8FE-4C4A-8178-17910674FA0C}"/>
              </a:ext>
            </a:extLst>
          </p:cNvPr>
          <p:cNvSpPr txBox="1"/>
          <p:nvPr/>
        </p:nvSpPr>
        <p:spPr>
          <a:xfrm>
            <a:off x="6400800" y="2628900"/>
            <a:ext cx="2209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kiểm thử logic đạt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F167F8-92F8-6A24-E996-B0A5D5AF461D}"/>
              </a:ext>
            </a:extLst>
          </p:cNvPr>
          <p:cNvSpPr/>
          <p:nvPr/>
        </p:nvSpPr>
        <p:spPr>
          <a:xfrm>
            <a:off x="9017000" y="1803400"/>
            <a:ext cx="2565400" cy="13335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14FD72-9578-103F-A4DB-FB03C899869D}"/>
              </a:ext>
            </a:extLst>
          </p:cNvPr>
          <p:cNvSpPr txBox="1"/>
          <p:nvPr/>
        </p:nvSpPr>
        <p:spPr>
          <a:xfrm>
            <a:off x="9194800" y="2032000"/>
            <a:ext cx="2209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00E698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8598D7-B18E-30B5-A9BE-CE65F1465B23}"/>
              </a:ext>
            </a:extLst>
          </p:cNvPr>
          <p:cNvSpPr txBox="1"/>
          <p:nvPr/>
        </p:nvSpPr>
        <p:spPr>
          <a:xfrm>
            <a:off x="9194800" y="2628900"/>
            <a:ext cx="2209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lỗi biên dịch Python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049F9-00D6-9EF6-46A2-E0A7E39CE1D4}"/>
              </a:ext>
            </a:extLst>
          </p:cNvPr>
          <p:cNvSpPr txBox="1"/>
          <p:nvPr/>
        </p:nvSpPr>
        <p:spPr>
          <a:xfrm>
            <a:off x="635000" y="35433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0E698"/>
                </a:solidFill>
                <a:latin typeface="Aptos" panose="020B0004020202020204" pitchFamily="34" charset="0"/>
              </a:rPr>
              <a:t>MA TRẬN KIỂM THỬ LOGIC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972653-3555-1803-D45F-487E7B64D74F}"/>
              </a:ext>
            </a:extLst>
          </p:cNvPr>
          <p:cNvSpPr/>
          <p:nvPr/>
        </p:nvSpPr>
        <p:spPr>
          <a:xfrm>
            <a:off x="635000" y="3924300"/>
            <a:ext cx="10947400" cy="368300"/>
          </a:xfrm>
          <a:prstGeom prst="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79F9A-AA01-753C-5428-4E7B0F27B840}"/>
              </a:ext>
            </a:extLst>
          </p:cNvPr>
          <p:cNvSpPr txBox="1"/>
          <p:nvPr/>
        </p:nvSpPr>
        <p:spPr>
          <a:xfrm>
            <a:off x="838200" y="40132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Trùng lịch xe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627C5E-2EFB-317B-3DC5-EDCF64265206}"/>
              </a:ext>
            </a:extLst>
          </p:cNvPr>
          <p:cNvSpPr txBox="1"/>
          <p:nvPr/>
        </p:nvSpPr>
        <p:spPr>
          <a:xfrm>
            <a:off x="3302000" y="4013200"/>
            <a:ext cx="647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Phát hiện giao nhau tại ngày biên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FABECA-9C9A-61D7-3B10-8B5995A885FF}"/>
              </a:ext>
            </a:extLst>
          </p:cNvPr>
          <p:cNvSpPr/>
          <p:nvPr/>
        </p:nvSpPr>
        <p:spPr>
          <a:xfrm>
            <a:off x="10439400" y="3962400"/>
            <a:ext cx="889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EEC473-D8C9-8F96-339F-DF5648B79DAF}"/>
              </a:ext>
            </a:extLst>
          </p:cNvPr>
          <p:cNvSpPr txBox="1"/>
          <p:nvPr/>
        </p:nvSpPr>
        <p:spPr>
          <a:xfrm>
            <a:off x="10528300" y="40132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5197C9-7AC5-C110-5580-527683050EE1}"/>
              </a:ext>
            </a:extLst>
          </p:cNvPr>
          <p:cNvSpPr/>
          <p:nvPr/>
        </p:nvSpPr>
        <p:spPr>
          <a:xfrm>
            <a:off x="635000" y="4330700"/>
            <a:ext cx="10947400" cy="368300"/>
          </a:xfrm>
          <a:prstGeom prst="rect">
            <a:avLst/>
          </a:prstGeom>
          <a:solidFill>
            <a:srgbClr val="242D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EA881E-822C-AB27-DC11-740A5206D6FF}"/>
              </a:ext>
            </a:extLst>
          </p:cNvPr>
          <p:cNvSpPr txBox="1"/>
          <p:nvPr/>
        </p:nvSpPr>
        <p:spPr>
          <a:xfrm>
            <a:off x="838200" y="44196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Lịch xe hợp lệ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69BB11-739E-FAC8-46B6-A46B4A108779}"/>
              </a:ext>
            </a:extLst>
          </p:cNvPr>
          <p:cNvSpPr txBox="1"/>
          <p:nvPr/>
        </p:nvSpPr>
        <p:spPr>
          <a:xfrm>
            <a:off x="3302000" y="4419600"/>
            <a:ext cx="647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Khoảng ngày không giao nhau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49FA63C-3D7A-F84A-B96D-6AAB83CB3871}"/>
              </a:ext>
            </a:extLst>
          </p:cNvPr>
          <p:cNvSpPr/>
          <p:nvPr/>
        </p:nvSpPr>
        <p:spPr>
          <a:xfrm>
            <a:off x="10439400" y="4368800"/>
            <a:ext cx="889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1C67A8-E604-7CAB-60F4-978B4DDB409D}"/>
              </a:ext>
            </a:extLst>
          </p:cNvPr>
          <p:cNvSpPr txBox="1"/>
          <p:nvPr/>
        </p:nvSpPr>
        <p:spPr>
          <a:xfrm>
            <a:off x="10528300" y="44196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741006-917F-4612-7F35-31904B09FB81}"/>
              </a:ext>
            </a:extLst>
          </p:cNvPr>
          <p:cNvSpPr/>
          <p:nvPr/>
        </p:nvSpPr>
        <p:spPr>
          <a:xfrm>
            <a:off x="635000" y="4737100"/>
            <a:ext cx="10947400" cy="368300"/>
          </a:xfrm>
          <a:prstGeom prst="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B7CA54-AA46-B843-6278-A033DE614030}"/>
              </a:ext>
            </a:extLst>
          </p:cNvPr>
          <p:cNvSpPr txBox="1"/>
          <p:nvPr/>
        </p:nvSpPr>
        <p:spPr>
          <a:xfrm>
            <a:off x="838200" y="48260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Trùng lịch khách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31E3D8-B799-E5A2-AAEF-93FFBD5A70B9}"/>
              </a:ext>
            </a:extLst>
          </p:cNvPr>
          <p:cNvSpPr txBox="1"/>
          <p:nvPr/>
        </p:nvSpPr>
        <p:spPr>
          <a:xfrm>
            <a:off x="3302000" y="4826000"/>
            <a:ext cx="647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Một khách thuê 2 xe cùng lúc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682C9F3-C0E2-3EEB-8422-F030CFE1634B}"/>
              </a:ext>
            </a:extLst>
          </p:cNvPr>
          <p:cNvSpPr/>
          <p:nvPr/>
        </p:nvSpPr>
        <p:spPr>
          <a:xfrm>
            <a:off x="10439400" y="4775200"/>
            <a:ext cx="889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9FB23E-F1D2-15B1-ECD8-119434A32D2B}"/>
              </a:ext>
            </a:extLst>
          </p:cNvPr>
          <p:cNvSpPr txBox="1"/>
          <p:nvPr/>
        </p:nvSpPr>
        <p:spPr>
          <a:xfrm>
            <a:off x="10528300" y="48260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03862C-4D26-53DC-25C0-5E44A7666DDF}"/>
              </a:ext>
            </a:extLst>
          </p:cNvPr>
          <p:cNvSpPr/>
          <p:nvPr/>
        </p:nvSpPr>
        <p:spPr>
          <a:xfrm>
            <a:off x="635000" y="5143500"/>
            <a:ext cx="10947400" cy="368300"/>
          </a:xfrm>
          <a:prstGeom prst="rect">
            <a:avLst/>
          </a:prstGeom>
          <a:solidFill>
            <a:srgbClr val="242D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59332-FC01-83BC-DE2F-43AAD91934B0}"/>
              </a:ext>
            </a:extLst>
          </p:cNvPr>
          <p:cNvSpPr txBox="1"/>
          <p:nvPr/>
        </p:nvSpPr>
        <p:spPr>
          <a:xfrm>
            <a:off x="838200" y="52324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Tiền giữ chỗ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4D1C83-C868-56F0-7EED-0BEA0C6E358D}"/>
              </a:ext>
            </a:extLst>
          </p:cNvPr>
          <p:cNvSpPr txBox="1"/>
          <p:nvPr/>
        </p:nvSpPr>
        <p:spPr>
          <a:xfrm>
            <a:off x="3302000" y="5232400"/>
            <a:ext cx="647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Tối thiểu 300.000đ / đúng 20%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E8CC76F-8D00-5F69-C957-F27D382B1519}"/>
              </a:ext>
            </a:extLst>
          </p:cNvPr>
          <p:cNvSpPr/>
          <p:nvPr/>
        </p:nvSpPr>
        <p:spPr>
          <a:xfrm>
            <a:off x="10439400" y="5181600"/>
            <a:ext cx="889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DB07BF-9EF0-1501-21ED-BF0F021C815E}"/>
              </a:ext>
            </a:extLst>
          </p:cNvPr>
          <p:cNvSpPr txBox="1"/>
          <p:nvPr/>
        </p:nvSpPr>
        <p:spPr>
          <a:xfrm>
            <a:off x="10528300" y="52324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A0C412-99B9-1C7C-FFF3-F7A4FF9B9260}"/>
              </a:ext>
            </a:extLst>
          </p:cNvPr>
          <p:cNvSpPr/>
          <p:nvPr/>
        </p:nvSpPr>
        <p:spPr>
          <a:xfrm>
            <a:off x="635000" y="5549900"/>
            <a:ext cx="10947400" cy="368300"/>
          </a:xfrm>
          <a:prstGeom prst="rect">
            <a:avLst/>
          </a:prstGeom>
          <a:solidFill>
            <a:srgbClr val="242D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9D8E60-8229-88E1-C4D2-63D56397EBC1}"/>
              </a:ext>
            </a:extLst>
          </p:cNvPr>
          <p:cNvSpPr txBox="1"/>
          <p:nvPr/>
        </p:nvSpPr>
        <p:spPr>
          <a:xfrm>
            <a:off x="838200" y="56388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Bảo mật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E6D1E7-015D-07AC-247B-ED7CBCDB3934}"/>
              </a:ext>
            </a:extLst>
          </p:cNvPr>
          <p:cNvSpPr txBox="1"/>
          <p:nvPr/>
        </p:nvSpPr>
        <p:spPr>
          <a:xfrm>
            <a:off x="3302000" y="5638800"/>
            <a:ext cx="647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PBKDF2 hash + verify mật khẩu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26A9EC2-18CC-8E4D-E233-D8790DCCF64C}"/>
              </a:ext>
            </a:extLst>
          </p:cNvPr>
          <p:cNvSpPr/>
          <p:nvPr/>
        </p:nvSpPr>
        <p:spPr>
          <a:xfrm>
            <a:off x="10439400" y="5588000"/>
            <a:ext cx="889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23D888-54CE-0586-2DB8-63288BC6ED77}"/>
              </a:ext>
            </a:extLst>
          </p:cNvPr>
          <p:cNvSpPr txBox="1"/>
          <p:nvPr/>
        </p:nvSpPr>
        <p:spPr>
          <a:xfrm>
            <a:off x="10528300" y="56388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1D6A45A-7AC2-786A-757F-9FA210EEC51C}"/>
              </a:ext>
            </a:extLst>
          </p:cNvPr>
          <p:cNvSpPr/>
          <p:nvPr/>
        </p:nvSpPr>
        <p:spPr>
          <a:xfrm>
            <a:off x="635000" y="5956300"/>
            <a:ext cx="10947400" cy="368300"/>
          </a:xfrm>
          <a:prstGeom prst="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B45AD5-81A1-AC4E-738B-B26FAF5F91C6}"/>
              </a:ext>
            </a:extLst>
          </p:cNvPr>
          <p:cNvSpPr txBox="1"/>
          <p:nvPr/>
        </p:nvSpPr>
        <p:spPr>
          <a:xfrm>
            <a:off x="838200" y="60452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Token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D4E9C1-F11C-5B60-1308-5C97E46DD13D}"/>
              </a:ext>
            </a:extLst>
          </p:cNvPr>
          <p:cNvSpPr txBox="1"/>
          <p:nvPr/>
        </p:nvSpPr>
        <p:spPr>
          <a:xfrm>
            <a:off x="3302000" y="6045200"/>
            <a:ext cx="647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Ký và xác minh token truy cập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23F24AE-D0A7-4834-3E3C-8D11DC71AAF4}"/>
              </a:ext>
            </a:extLst>
          </p:cNvPr>
          <p:cNvSpPr/>
          <p:nvPr/>
        </p:nvSpPr>
        <p:spPr>
          <a:xfrm>
            <a:off x="10439400" y="5994400"/>
            <a:ext cx="8890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25334D-139E-7272-95D6-EF710C1F5241}"/>
              </a:ext>
            </a:extLst>
          </p:cNvPr>
          <p:cNvSpPr txBox="1"/>
          <p:nvPr/>
        </p:nvSpPr>
        <p:spPr>
          <a:xfrm>
            <a:off x="10528300" y="60452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6FCB7D-EE21-7422-505C-B89EB96478A0}"/>
              </a:ext>
            </a:extLst>
          </p:cNvPr>
          <p:cNvSpPr txBox="1"/>
          <p:nvPr/>
        </p:nvSpPr>
        <p:spPr>
          <a:xfrm>
            <a:off x="635000" y="64135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C1C9B8"/>
                </a:solidFill>
                <a:latin typeface="Aptos" panose="020B0004020202020204" pitchFamily="34" charset="0"/>
              </a:rPr>
              <a:t>Lưu ý: Vite cảnh báo bundle JS ~522 kB; đây là đầu mối tối ưu ở giai đoạn tiếp theo.</a:t>
            </a:r>
            <a:endParaRPr lang="en-US" sz="900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7FADFE-B163-C914-2B10-02027BF70B3C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6261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EEDA6C-4BBA-F041-E57D-3F7C9D63B7D9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F4C39-1A59-AE20-DBC0-88F5D144A21D}"/>
              </a:ext>
            </a:extLst>
          </p:cNvPr>
          <p:cNvSpPr txBox="1"/>
          <p:nvPr/>
        </p:nvSpPr>
        <p:spPr>
          <a:xfrm>
            <a:off x="673100" y="431056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141710"/>
                </a:solidFill>
                <a:latin typeface="Aptos" panose="020B0004020202020204" pitchFamily="34" charset="0"/>
              </a:rPr>
              <a:t>ĐÁNH GIÁ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56558-1065-430D-B458-AEAF372FCBDB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FFFFFF"/>
                </a:solidFill>
                <a:latin typeface="Aptos" panose="020B0004020202020204" pitchFamily="34" charset="0"/>
              </a:rPr>
              <a:t>Ưu điểm và hạn chế của hệ thống</a:t>
            </a:r>
            <a:endParaRPr lang="en-US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FF9B8-9F67-E7C4-FAC2-6AC0597784B9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09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D954A8-3FEC-05D9-3DA2-033176A111B8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7DF696-F013-0DEA-163A-639EC93D322A}"/>
              </a:ext>
            </a:extLst>
          </p:cNvPr>
          <p:cNvSpPr txBox="1"/>
          <p:nvPr/>
        </p:nvSpPr>
        <p:spPr>
          <a:xfrm>
            <a:off x="660400" y="1828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00E698"/>
                </a:solidFill>
                <a:latin typeface="Aptos" panose="020B0004020202020204" pitchFamily="34" charset="0"/>
              </a:rPr>
              <a:t>ƯU ĐIỂM</a:t>
            </a:r>
            <a:endParaRPr lang="en-US" sz="1200" b="1">
              <a:solidFill>
                <a:srgbClr val="00E698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4E8FC0-250F-A0F3-C6CD-F7E38FCD0926}"/>
              </a:ext>
            </a:extLst>
          </p:cNvPr>
          <p:cNvSpPr/>
          <p:nvPr/>
        </p:nvSpPr>
        <p:spPr>
          <a:xfrm>
            <a:off x="711200" y="2311400"/>
            <a:ext cx="279400" cy="279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443B4-B45F-8CC0-C9E0-6F007A5A50C8}"/>
              </a:ext>
            </a:extLst>
          </p:cNvPr>
          <p:cNvSpPr txBox="1"/>
          <p:nvPr/>
        </p:nvSpPr>
        <p:spPr>
          <a:xfrm>
            <a:off x="762000" y="23495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64ED76-3BDE-938B-9213-2A937B6C7E96}"/>
              </a:ext>
            </a:extLst>
          </p:cNvPr>
          <p:cNvSpPr txBox="1"/>
          <p:nvPr/>
        </p:nvSpPr>
        <p:spPr>
          <a:xfrm>
            <a:off x="1143000" y="22860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FFFFFF"/>
                </a:solidFill>
                <a:latin typeface="Aptos" panose="020B0004020202020204" pitchFamily="34" charset="0"/>
              </a:rPr>
              <a:t>Bao phủ quy trình nghiệp vụ tương đối đầy đủ</a:t>
            </a:r>
            <a:endParaRPr 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441AAA-7A02-788A-744D-F47A37AE77E8}"/>
              </a:ext>
            </a:extLst>
          </p:cNvPr>
          <p:cNvSpPr/>
          <p:nvPr/>
        </p:nvSpPr>
        <p:spPr>
          <a:xfrm>
            <a:off x="711200" y="3009900"/>
            <a:ext cx="279400" cy="279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57896-E432-45DB-6AF5-BA12BA0FDC67}"/>
              </a:ext>
            </a:extLst>
          </p:cNvPr>
          <p:cNvSpPr txBox="1"/>
          <p:nvPr/>
        </p:nvSpPr>
        <p:spPr>
          <a:xfrm>
            <a:off x="762000" y="30480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7234F-EB37-0475-C342-21EF94612795}"/>
              </a:ext>
            </a:extLst>
          </p:cNvPr>
          <p:cNvSpPr txBox="1"/>
          <p:nvPr/>
        </p:nvSpPr>
        <p:spPr>
          <a:xfrm>
            <a:off x="1143000" y="29845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Kiểm soát trùng lịch xe và trùng lịch khách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5EE15C-AC97-FE8C-1FEC-FD7B3D9836E3}"/>
              </a:ext>
            </a:extLst>
          </p:cNvPr>
          <p:cNvSpPr/>
          <p:nvPr/>
        </p:nvSpPr>
        <p:spPr>
          <a:xfrm>
            <a:off x="711200" y="3708400"/>
            <a:ext cx="279400" cy="279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2B44-5756-1544-6A21-4092D5A78EFE}"/>
              </a:ext>
            </a:extLst>
          </p:cNvPr>
          <p:cNvSpPr txBox="1"/>
          <p:nvPr/>
        </p:nvSpPr>
        <p:spPr>
          <a:xfrm>
            <a:off x="762000" y="37465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AF959-7E2F-CC17-2CF5-7463BB0A8FD5}"/>
              </a:ext>
            </a:extLst>
          </p:cNvPr>
          <p:cNvSpPr txBox="1"/>
          <p:nvPr/>
        </p:nvSpPr>
        <p:spPr>
          <a:xfrm>
            <a:off x="1143000" y="36830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Phân quyền JWT; mật khẩu PBKDF2-SHA256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CE2B0AB-1249-CD48-2AB5-492E1392E70A}"/>
              </a:ext>
            </a:extLst>
          </p:cNvPr>
          <p:cNvSpPr/>
          <p:nvPr/>
        </p:nvSpPr>
        <p:spPr>
          <a:xfrm>
            <a:off x="711200" y="4406900"/>
            <a:ext cx="279400" cy="279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18F70-632A-2FC1-3BFE-3627E1A8D565}"/>
              </a:ext>
            </a:extLst>
          </p:cNvPr>
          <p:cNvSpPr txBox="1"/>
          <p:nvPr/>
        </p:nvSpPr>
        <p:spPr>
          <a:xfrm>
            <a:off x="762000" y="44450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9D4B27-79AB-EC8E-991E-AD7946611F2A}"/>
              </a:ext>
            </a:extLst>
          </p:cNvPr>
          <p:cNvSpPr txBox="1"/>
          <p:nvPr/>
        </p:nvSpPr>
        <p:spPr>
          <a:xfrm>
            <a:off x="1143000" y="43815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Dashboard doanh thu, tỷ lệ sử dụng, xuất báo cáo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30E132-2A1F-DE74-6B58-9C71C6EB312F}"/>
              </a:ext>
            </a:extLst>
          </p:cNvPr>
          <p:cNvSpPr/>
          <p:nvPr/>
        </p:nvSpPr>
        <p:spPr>
          <a:xfrm>
            <a:off x="711200" y="5105400"/>
            <a:ext cx="279400" cy="279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2D5FD2-C9C7-5E11-252C-3921BBD7DA77}"/>
              </a:ext>
            </a:extLst>
          </p:cNvPr>
          <p:cNvSpPr txBox="1"/>
          <p:nvPr/>
        </p:nvSpPr>
        <p:spPr>
          <a:xfrm>
            <a:off x="762000" y="5143500"/>
            <a:ext cx="17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B42371-A66D-C64F-1BB6-ACEE1401DA9E}"/>
              </a:ext>
            </a:extLst>
          </p:cNvPr>
          <p:cNvSpPr txBox="1"/>
          <p:nvPr/>
        </p:nvSpPr>
        <p:spPr>
          <a:xfrm>
            <a:off x="1143000" y="50800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Giao diện hiện đại; có chat hỗ trợ và AI Chat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3171C-8B2B-CC29-1853-8C2EDE82C352}"/>
              </a:ext>
            </a:extLst>
          </p:cNvPr>
          <p:cNvSpPr txBox="1"/>
          <p:nvPr/>
        </p:nvSpPr>
        <p:spPr>
          <a:xfrm>
            <a:off x="6477000" y="1828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B248"/>
                </a:solidFill>
                <a:latin typeface="Aptos" panose="020B0004020202020204" pitchFamily="34" charset="0"/>
              </a:rPr>
              <a:t>HẠN CHẾ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6020EA-D282-2217-28CE-E5E611783CD1}"/>
              </a:ext>
            </a:extLst>
          </p:cNvPr>
          <p:cNvSpPr/>
          <p:nvPr/>
        </p:nvSpPr>
        <p:spPr>
          <a:xfrm>
            <a:off x="6527800" y="2311400"/>
            <a:ext cx="279400" cy="2794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519BB4-73B9-E553-0AB8-79F293BD0E0A}"/>
              </a:ext>
            </a:extLst>
          </p:cNvPr>
          <p:cNvSpPr txBox="1"/>
          <p:nvPr/>
        </p:nvSpPr>
        <p:spPr>
          <a:xfrm>
            <a:off x="6604000" y="2349500"/>
            <a:ext cx="12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CBC58C-B560-5228-6D73-3981F6BBBEB2}"/>
              </a:ext>
            </a:extLst>
          </p:cNvPr>
          <p:cNvSpPr txBox="1"/>
          <p:nvPr/>
        </p:nvSpPr>
        <p:spPr>
          <a:xfrm>
            <a:off x="6959600" y="2286000"/>
            <a:ext cx="450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FFFFFF"/>
                </a:solidFill>
                <a:latin typeface="Aptos" panose="020B0004020202020204" pitchFamily="34" charset="0"/>
              </a:rPr>
              <a:t>Thanh toán QR mới dừng ở bước xác nhận thủ công</a:t>
            </a:r>
            <a:endParaRPr 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7B69AC-AB23-506A-8FE3-2CD58CC8E92E}"/>
              </a:ext>
            </a:extLst>
          </p:cNvPr>
          <p:cNvSpPr/>
          <p:nvPr/>
        </p:nvSpPr>
        <p:spPr>
          <a:xfrm>
            <a:off x="6527800" y="3009900"/>
            <a:ext cx="279400" cy="2794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CFE439-1DA1-C4B3-03C6-2EB2508681D7}"/>
              </a:ext>
            </a:extLst>
          </p:cNvPr>
          <p:cNvSpPr txBox="1"/>
          <p:nvPr/>
        </p:nvSpPr>
        <p:spPr>
          <a:xfrm>
            <a:off x="6604000" y="3048000"/>
            <a:ext cx="12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BAD974-09B6-DE2F-80BC-ED5D950C5D7F}"/>
              </a:ext>
            </a:extLst>
          </p:cNvPr>
          <p:cNvSpPr txBox="1"/>
          <p:nvPr/>
        </p:nvSpPr>
        <p:spPr>
          <a:xfrm>
            <a:off x="6959600" y="2984500"/>
            <a:ext cx="450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FFFFFF"/>
                </a:solidFill>
                <a:latin typeface="Aptos" panose="020B0004020202020204" pitchFamily="34" charset="0"/>
              </a:rPr>
              <a:t>Chưa có kiểm thử API/UI tự động đầy đủ</a:t>
            </a:r>
            <a:endParaRPr 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88AF65-8B3E-3B5A-F699-70EB2069A947}"/>
              </a:ext>
            </a:extLst>
          </p:cNvPr>
          <p:cNvSpPr/>
          <p:nvPr/>
        </p:nvSpPr>
        <p:spPr>
          <a:xfrm>
            <a:off x="6527800" y="3708400"/>
            <a:ext cx="279400" cy="2794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B2F86E-8FFB-72F3-C569-EB96C5488089}"/>
              </a:ext>
            </a:extLst>
          </p:cNvPr>
          <p:cNvSpPr txBox="1"/>
          <p:nvPr/>
        </p:nvSpPr>
        <p:spPr>
          <a:xfrm>
            <a:off x="6604000" y="3746500"/>
            <a:ext cx="12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3DDF86-8602-01CF-9101-DF6D0656524C}"/>
              </a:ext>
            </a:extLst>
          </p:cNvPr>
          <p:cNvSpPr txBox="1"/>
          <p:nvPr/>
        </p:nvSpPr>
        <p:spPr>
          <a:xfrm>
            <a:off x="6959600" y="3683000"/>
            <a:ext cx="450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Bundle frontend còn lớn, cần code splitting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42365F0-4809-ABC0-E41F-C4761154E5AF}"/>
              </a:ext>
            </a:extLst>
          </p:cNvPr>
          <p:cNvSpPr/>
          <p:nvPr/>
        </p:nvSpPr>
        <p:spPr>
          <a:xfrm>
            <a:off x="6527800" y="4406900"/>
            <a:ext cx="279400" cy="2794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C37A11-6BBC-65C2-1584-772F413AE866}"/>
              </a:ext>
            </a:extLst>
          </p:cNvPr>
          <p:cNvSpPr txBox="1"/>
          <p:nvPr/>
        </p:nvSpPr>
        <p:spPr>
          <a:xfrm>
            <a:off x="6604000" y="4445000"/>
            <a:ext cx="12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B1E26D-A183-BB88-9738-1FE8C592ADBD}"/>
              </a:ext>
            </a:extLst>
          </p:cNvPr>
          <p:cNvSpPr txBox="1"/>
          <p:nvPr/>
        </p:nvSpPr>
        <p:spPr>
          <a:xfrm>
            <a:off x="6959600" y="4381500"/>
            <a:ext cx="450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Cấu hình triển khai chủ yếu phục vụ local/tunnel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86E4F8C-2EC9-8739-9FFE-3C80F66C3E08}"/>
              </a:ext>
            </a:extLst>
          </p:cNvPr>
          <p:cNvSpPr/>
          <p:nvPr/>
        </p:nvSpPr>
        <p:spPr>
          <a:xfrm>
            <a:off x="6527800" y="5105400"/>
            <a:ext cx="279400" cy="2794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BDE04A-515E-B4FA-3070-24F37BEBD43A}"/>
              </a:ext>
            </a:extLst>
          </p:cNvPr>
          <p:cNvSpPr txBox="1"/>
          <p:nvPr/>
        </p:nvSpPr>
        <p:spPr>
          <a:xfrm>
            <a:off x="6604000" y="5143500"/>
            <a:ext cx="12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9BEC16-A9FB-272B-4B15-020899DDAE6A}"/>
              </a:ext>
            </a:extLst>
          </p:cNvPr>
          <p:cNvSpPr txBox="1"/>
          <p:nvPr/>
        </p:nvSpPr>
        <p:spPr>
          <a:xfrm>
            <a:off x="6959600" y="5080000"/>
            <a:ext cx="450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AI Chat phụ thuộc API key và dịch vụ bên thứ ba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482BCCC-30C0-3167-4A6F-D67C1F91935A}"/>
              </a:ext>
            </a:extLst>
          </p:cNvPr>
          <p:cNvSpPr/>
          <p:nvPr/>
        </p:nvSpPr>
        <p:spPr>
          <a:xfrm>
            <a:off x="660400" y="6032500"/>
            <a:ext cx="10795000" cy="4318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4B61B7-32CB-3AB5-B149-BDC5D85748E4}"/>
              </a:ext>
            </a:extLst>
          </p:cNvPr>
          <p:cNvSpPr txBox="1"/>
          <p:nvPr/>
        </p:nvSpPr>
        <p:spPr>
          <a:xfrm>
            <a:off x="914400" y="6172200"/>
            <a:ext cx="1028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b="1">
                <a:solidFill>
                  <a:srgbClr val="00E698"/>
                </a:solidFill>
                <a:latin typeface="Aptos" panose="020B0004020202020204" pitchFamily="34" charset="0"/>
              </a:rPr>
              <a:t>Đánh giá chung: hệ thống đáp ứng tốt phạm vi đồ án và có nền tảng rõ ràng để triển khai thực tế.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5E8DDE-412E-0D13-6F27-32BEBDF0A1FD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4983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F56A41-42B0-AC87-795E-C09690276B4F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C13426-C5F0-6A92-0D5D-EDC57652FDB5}"/>
              </a:ext>
            </a:extLst>
          </p:cNvPr>
          <p:cNvSpPr txBox="1"/>
          <p:nvPr/>
        </p:nvSpPr>
        <p:spPr>
          <a:xfrm>
            <a:off x="664633" y="430313"/>
            <a:ext cx="144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000" b="1" dirty="0">
                <a:solidFill>
                  <a:srgbClr val="141710"/>
                </a:solidFill>
                <a:latin typeface="Aptos" panose="020B0004020202020204" pitchFamily="34" charset="0"/>
              </a:rPr>
              <a:t>TƯƠNG LAI</a:t>
            </a:r>
            <a:endParaRPr lang="en-US" sz="1000" b="1" dirty="0">
              <a:solidFill>
                <a:srgbClr val="14171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21B8D-0844-628E-4D36-DE410A7A4D1D}"/>
              </a:ext>
            </a:extLst>
          </p:cNvPr>
          <p:cNvSpPr txBox="1"/>
          <p:nvPr/>
        </p:nvSpPr>
        <p:spPr>
          <a:xfrm>
            <a:off x="584200" y="7874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FFFFFF"/>
                </a:solidFill>
                <a:latin typeface="Aptos" panose="020B0004020202020204" pitchFamily="34" charset="0"/>
              </a:rPr>
              <a:t>Hướng phát triển theo lộ trình</a:t>
            </a:r>
            <a:endParaRPr lang="en-US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FDF06-76F5-BE3A-B3B2-70F287DAB680}"/>
              </a:ext>
            </a:extLst>
          </p:cNvPr>
          <p:cNvSpPr txBox="1"/>
          <p:nvPr/>
        </p:nvSpPr>
        <p:spPr>
          <a:xfrm>
            <a:off x="11341100" y="4064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 b="1">
                <a:solidFill>
                  <a:srgbClr val="C1C9B8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4601FB-0AC5-5E7D-043A-98513FE81C12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799946-A434-4E96-1773-BF5B10CC7F2F}"/>
              </a:ext>
            </a:extLst>
          </p:cNvPr>
          <p:cNvCxnSpPr/>
          <p:nvPr/>
        </p:nvCxnSpPr>
        <p:spPr>
          <a:xfrm>
            <a:off x="1397000" y="3632200"/>
            <a:ext cx="9398000" cy="0"/>
          </a:xfrm>
          <a:prstGeom prst="line">
            <a:avLst/>
          </a:prstGeom>
          <a:ln w="635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30C1427-5417-6C8A-8581-CA2608DF4A88}"/>
              </a:ext>
            </a:extLst>
          </p:cNvPr>
          <p:cNvSpPr/>
          <p:nvPr/>
        </p:nvSpPr>
        <p:spPr>
          <a:xfrm>
            <a:off x="1638300" y="3429000"/>
            <a:ext cx="406400" cy="406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65A4F-7B2F-F388-F61B-D7B688EF62A9}"/>
              </a:ext>
            </a:extLst>
          </p:cNvPr>
          <p:cNvSpPr txBox="1"/>
          <p:nvPr/>
        </p:nvSpPr>
        <p:spPr>
          <a:xfrm>
            <a:off x="1727200" y="35306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41710"/>
                </a:solidFill>
                <a:latin typeface="Aptos" panose="020B0004020202020204" pitchFamily="34" charset="0"/>
              </a:rPr>
              <a:t>01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B1CB2A-A888-6957-7536-FC6ED565229C}"/>
              </a:ext>
            </a:extLst>
          </p:cNvPr>
          <p:cNvCxnSpPr/>
          <p:nvPr/>
        </p:nvCxnSpPr>
        <p:spPr>
          <a:xfrm>
            <a:off x="1841500" y="3213100"/>
            <a:ext cx="0" cy="215900"/>
          </a:xfrm>
          <a:prstGeom prst="line">
            <a:avLst/>
          </a:prstGeom>
          <a:ln w="25400">
            <a:solidFill>
              <a:srgbClr val="00E6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A0E754-5937-7C35-EAA7-362E4E85B613}"/>
              </a:ext>
            </a:extLst>
          </p:cNvPr>
          <p:cNvSpPr/>
          <p:nvPr/>
        </p:nvSpPr>
        <p:spPr>
          <a:xfrm>
            <a:off x="685800" y="1841500"/>
            <a:ext cx="2311400" cy="1371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15A732-C5B5-928B-DC3E-796251FEE021}"/>
              </a:ext>
            </a:extLst>
          </p:cNvPr>
          <p:cNvSpPr txBox="1"/>
          <p:nvPr/>
        </p:nvSpPr>
        <p:spPr>
          <a:xfrm>
            <a:off x="889000" y="2032000"/>
            <a:ext cx="190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Thanh toán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0167E-25C0-1BC3-F1E1-0F1B81CD4965}"/>
              </a:ext>
            </a:extLst>
          </p:cNvPr>
          <p:cNvSpPr txBox="1"/>
          <p:nvPr/>
        </p:nvSpPr>
        <p:spPr>
          <a:xfrm>
            <a:off x="889000" y="24003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Tích hợp cổng thanh toán và webhook đối soát tự động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600D37-07D6-D442-F9D6-2581FF15A149}"/>
              </a:ext>
            </a:extLst>
          </p:cNvPr>
          <p:cNvSpPr/>
          <p:nvPr/>
        </p:nvSpPr>
        <p:spPr>
          <a:xfrm>
            <a:off x="4432300" y="3429000"/>
            <a:ext cx="406400" cy="406400"/>
          </a:xfrm>
          <a:prstGeom prst="ellipse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263195-EBF6-9A78-D9FD-499ADBD5CE1D}"/>
              </a:ext>
            </a:extLst>
          </p:cNvPr>
          <p:cNvSpPr txBox="1"/>
          <p:nvPr/>
        </p:nvSpPr>
        <p:spPr>
          <a:xfrm>
            <a:off x="4521200" y="35306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41710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32F43C-A23C-2A30-0FC8-E53ECF45580C}"/>
              </a:ext>
            </a:extLst>
          </p:cNvPr>
          <p:cNvCxnSpPr/>
          <p:nvPr/>
        </p:nvCxnSpPr>
        <p:spPr>
          <a:xfrm>
            <a:off x="4635500" y="3835400"/>
            <a:ext cx="0" cy="317500"/>
          </a:xfrm>
          <a:prstGeom prst="line">
            <a:avLst/>
          </a:prstGeom>
          <a:ln w="25400">
            <a:solidFill>
              <a:srgbClr val="4FB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7CE21A-DDBB-F7DC-1ACE-D838DDF1A152}"/>
              </a:ext>
            </a:extLst>
          </p:cNvPr>
          <p:cNvSpPr/>
          <p:nvPr/>
        </p:nvSpPr>
        <p:spPr>
          <a:xfrm>
            <a:off x="3479800" y="4152900"/>
            <a:ext cx="2311400" cy="1371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609B6-817E-8ED2-7694-090BDE73237D}"/>
              </a:ext>
            </a:extLst>
          </p:cNvPr>
          <p:cNvSpPr txBox="1"/>
          <p:nvPr/>
        </p:nvSpPr>
        <p:spPr>
          <a:xfrm>
            <a:off x="3683000" y="4343400"/>
            <a:ext cx="190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FFFFFF"/>
                </a:solidFill>
                <a:latin typeface="Aptos" panose="020B0004020202020204" pitchFamily="34" charset="0"/>
              </a:rPr>
              <a:t>Chất lượng</a:t>
            </a:r>
            <a:endParaRPr lang="en-US" sz="1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D0FE05-49F5-B217-D46E-557084F08663}"/>
              </a:ext>
            </a:extLst>
          </p:cNvPr>
          <p:cNvSpPr txBox="1"/>
          <p:nvPr/>
        </p:nvSpPr>
        <p:spPr>
          <a:xfrm>
            <a:off x="3683000" y="47117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Pytest, API integration test, E2E với Playwright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957D21-FEFE-A835-D678-D1392C0D2491}"/>
              </a:ext>
            </a:extLst>
          </p:cNvPr>
          <p:cNvSpPr/>
          <p:nvPr/>
        </p:nvSpPr>
        <p:spPr>
          <a:xfrm>
            <a:off x="7226300" y="3429000"/>
            <a:ext cx="406400" cy="4064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0F3553-DAFD-2258-197D-4B723EE86A7E}"/>
              </a:ext>
            </a:extLst>
          </p:cNvPr>
          <p:cNvSpPr txBox="1"/>
          <p:nvPr/>
        </p:nvSpPr>
        <p:spPr>
          <a:xfrm>
            <a:off x="7315200" y="35306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41710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86272F-A21C-F32E-9AE5-40E1B5EC8C9C}"/>
              </a:ext>
            </a:extLst>
          </p:cNvPr>
          <p:cNvCxnSpPr/>
          <p:nvPr/>
        </p:nvCxnSpPr>
        <p:spPr>
          <a:xfrm>
            <a:off x="7429500" y="3213100"/>
            <a:ext cx="0" cy="215900"/>
          </a:xfrm>
          <a:prstGeom prst="line">
            <a:avLst/>
          </a:prstGeom>
          <a:ln w="25400">
            <a:solidFill>
              <a:srgbClr val="FFB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AF0E018-A98A-5CAA-CC17-413C57E95892}"/>
              </a:ext>
            </a:extLst>
          </p:cNvPr>
          <p:cNvSpPr/>
          <p:nvPr/>
        </p:nvSpPr>
        <p:spPr>
          <a:xfrm>
            <a:off x="6273800" y="1841500"/>
            <a:ext cx="2311400" cy="1371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71A40-7359-19CC-E148-00A7E9E4ED04}"/>
              </a:ext>
            </a:extLst>
          </p:cNvPr>
          <p:cNvSpPr txBox="1"/>
          <p:nvPr/>
        </p:nvSpPr>
        <p:spPr>
          <a:xfrm>
            <a:off x="6477000" y="2032000"/>
            <a:ext cx="190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Triển khai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B6D6A1-D9A6-43DB-F45D-EF36ED79D374}"/>
              </a:ext>
            </a:extLst>
          </p:cNvPr>
          <p:cNvSpPr txBox="1"/>
          <p:nvPr/>
        </p:nvSpPr>
        <p:spPr>
          <a:xfrm>
            <a:off x="6477000" y="24003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Docker, CI/CD, cloud database, giám sát và backup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113828-1ADC-C597-BFAE-3D53B94A143B}"/>
              </a:ext>
            </a:extLst>
          </p:cNvPr>
          <p:cNvSpPr/>
          <p:nvPr/>
        </p:nvSpPr>
        <p:spPr>
          <a:xfrm>
            <a:off x="10020300" y="3429000"/>
            <a:ext cx="406400" cy="4064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D2CB66-7689-5001-FA3D-8589CCE6C950}"/>
              </a:ext>
            </a:extLst>
          </p:cNvPr>
          <p:cNvSpPr txBox="1"/>
          <p:nvPr/>
        </p:nvSpPr>
        <p:spPr>
          <a:xfrm>
            <a:off x="10109200" y="3530600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141710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D0306C8-3091-8CF6-C93E-BAE01745AB21}"/>
              </a:ext>
            </a:extLst>
          </p:cNvPr>
          <p:cNvCxnSpPr/>
          <p:nvPr/>
        </p:nvCxnSpPr>
        <p:spPr>
          <a:xfrm>
            <a:off x="10223500" y="3835400"/>
            <a:ext cx="0" cy="317500"/>
          </a:xfrm>
          <a:prstGeom prst="line">
            <a:avLst/>
          </a:prstGeom>
          <a:ln w="25400">
            <a:solidFill>
              <a:srgbClr val="00E6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F39591D-BB8F-2B34-7C5B-93626D8E90D5}"/>
              </a:ext>
            </a:extLst>
          </p:cNvPr>
          <p:cNvSpPr/>
          <p:nvPr/>
        </p:nvSpPr>
        <p:spPr>
          <a:xfrm>
            <a:off x="9067800" y="4152900"/>
            <a:ext cx="2311400" cy="1371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B9D20-55A7-246D-D8AF-13617158D4C3}"/>
              </a:ext>
            </a:extLst>
          </p:cNvPr>
          <p:cNvSpPr txBox="1"/>
          <p:nvPr/>
        </p:nvSpPr>
        <p:spPr>
          <a:xfrm>
            <a:off x="9271000" y="4343400"/>
            <a:ext cx="190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Thông minh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AC7C30-0A72-914E-6C90-D1F0C0991A6F}"/>
              </a:ext>
            </a:extLst>
          </p:cNvPr>
          <p:cNvSpPr txBox="1"/>
          <p:nvPr/>
        </p:nvSpPr>
        <p:spPr>
          <a:xfrm>
            <a:off x="9271000" y="47117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C1C9B8"/>
                </a:solidFill>
                <a:latin typeface="Aptos" panose="020B0004020202020204" pitchFamily="34" charset="0"/>
              </a:rPr>
              <a:t>Gợi ý xe, dự báo nhu cầu và giá thuê linh hoạt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5A0C13-25F8-FE42-2FEF-DF7E10AA7D50}"/>
              </a:ext>
            </a:extLst>
          </p:cNvPr>
          <p:cNvSpPr txBox="1"/>
          <p:nvPr/>
        </p:nvSpPr>
        <p:spPr>
          <a:xfrm>
            <a:off x="685800" y="61214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000" b="1">
                <a:solidFill>
                  <a:srgbClr val="00E698"/>
                </a:solidFill>
                <a:latin typeface="Aptos" panose="020B0004020202020204" pitchFamily="34" charset="0"/>
              </a:rPr>
              <a:t>Ưu tiên ngắn hạn</a:t>
            </a:r>
            <a:endParaRPr lang="en-US" sz="1000" b="1">
              <a:solidFill>
                <a:srgbClr val="00E698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8D57D5-F9D1-0683-6E21-F974A5AF14F1}"/>
              </a:ext>
            </a:extLst>
          </p:cNvPr>
          <p:cNvSpPr txBox="1"/>
          <p:nvPr/>
        </p:nvSpPr>
        <p:spPr>
          <a:xfrm>
            <a:off x="2413000" y="61214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Thanh toán tự động + kiểm thử E2E + đóng gói Docker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60DB5E-64A0-8458-796A-DDD9B0E2410E}"/>
              </a:ext>
            </a:extLst>
          </p:cNvPr>
          <p:cNvSpPr txBox="1"/>
          <p:nvPr/>
        </p:nvSpPr>
        <p:spPr>
          <a:xfrm>
            <a:off x="584200" y="65151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127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B44E69D-2A07-5454-5CD6-E97EDBB46872}"/>
              </a:ext>
            </a:extLst>
          </p:cNvPr>
          <p:cNvSpPr/>
          <p:nvPr/>
        </p:nvSpPr>
        <p:spPr>
          <a:xfrm>
            <a:off x="5207000" y="1117600"/>
            <a:ext cx="1778000" cy="177800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85692-5117-C1A3-D1ED-B4B4CDC871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473200"/>
            <a:ext cx="1066800" cy="106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04D43E-31A9-7AA6-0843-B7DE960489BF}"/>
              </a:ext>
            </a:extLst>
          </p:cNvPr>
          <p:cNvSpPr txBox="1"/>
          <p:nvPr/>
        </p:nvSpPr>
        <p:spPr>
          <a:xfrm>
            <a:off x="1524000" y="3378200"/>
            <a:ext cx="914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3000" b="1">
                <a:solidFill>
                  <a:srgbClr val="FFFFFF"/>
                </a:solidFill>
                <a:latin typeface="Aptos" panose="020B0004020202020204" pitchFamily="34" charset="0"/>
              </a:rPr>
              <a:t>XIN CHÂN THÀNH CẢM ƠN</a:t>
            </a:r>
            <a:endParaRPr lang="en-US" sz="3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65DFE-2D0A-86F7-8C0B-28FA6B9F8FD6}"/>
              </a:ext>
            </a:extLst>
          </p:cNvPr>
          <p:cNvSpPr txBox="1"/>
          <p:nvPr/>
        </p:nvSpPr>
        <p:spPr>
          <a:xfrm>
            <a:off x="2032000" y="4191000"/>
            <a:ext cx="812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500">
                <a:solidFill>
                  <a:srgbClr val="C1C9B8"/>
                </a:solidFill>
                <a:latin typeface="Aptos" panose="020B0004020202020204" pitchFamily="34" charset="0"/>
              </a:rPr>
              <a:t>Kính mong nhận được ý kiến đóng góp từ Thầy/Cô và Hội đồng</a:t>
            </a:r>
            <a:endParaRPr lang="en-US" sz="1500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B515E2-A2BC-067C-6E0F-9C177A13F074}"/>
              </a:ext>
            </a:extLst>
          </p:cNvPr>
          <p:cNvSpPr/>
          <p:nvPr/>
        </p:nvSpPr>
        <p:spPr>
          <a:xfrm>
            <a:off x="4000500" y="4991100"/>
            <a:ext cx="4191000" cy="6858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115A3-8EEA-1F9C-A424-F22053D17CD0}"/>
              </a:ext>
            </a:extLst>
          </p:cNvPr>
          <p:cNvSpPr txBox="1"/>
          <p:nvPr/>
        </p:nvSpPr>
        <p:spPr>
          <a:xfrm>
            <a:off x="4000500" y="5168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E698"/>
                </a:solidFill>
                <a:latin typeface="Aptos" panose="020B0004020202020204" pitchFamily="34" charset="0"/>
              </a:rPr>
              <a:t>Q &amp;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5F700-0D46-22FD-7DD9-3C334516CF1B}"/>
              </a:ext>
            </a:extLst>
          </p:cNvPr>
          <p:cNvSpPr txBox="1"/>
          <p:nvPr/>
        </p:nvSpPr>
        <p:spPr>
          <a:xfrm>
            <a:off x="3746500" y="6299200"/>
            <a:ext cx="469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 · 2026</a:t>
            </a:r>
            <a:endParaRPr lang="en-US" sz="900" b="1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9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1155</Words>
  <Application>Microsoft Office PowerPoint</Application>
  <PresentationFormat>Widescreen</PresentationFormat>
  <Paragraphs>229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Công Minh Phạm</dc:creator>
  <cp:lastModifiedBy>Công Minh Phạm</cp:lastModifiedBy>
  <cp:revision>2</cp:revision>
  <dcterms:created xsi:type="dcterms:W3CDTF">2026-06-30T08:28:42Z</dcterms:created>
  <dcterms:modified xsi:type="dcterms:W3CDTF">2026-06-30T08:43:17Z</dcterms:modified>
</cp:coreProperties>
</file>